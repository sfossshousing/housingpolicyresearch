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TOPETA: Tenant Opportunity to Purchase &amp; Equity Transfer 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Legislative Strategy for Tenant Ownership &amp; Wealth-Building</a:t>
            </a:r>
          </a:p>
          <a:p>
            <a:r>
              <a:t>New York City Council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60% of NYC rental subsidy recipients remain in unaffordable housing</a:t>
            </a:r>
          </a:p>
          <a:p>
            <a:r>
              <a:t>• Emergency shelter costs exceed $138 per night per family</a:t>
            </a:r>
          </a:p>
          <a:p>
            <a:r>
              <a:t>• Low-income Black and Latinx communities face chronic housing instability</a:t>
            </a:r>
          </a:p>
          <a:p>
            <a:r>
              <a:t>• Rental vouchers build no equity for tenants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TOPETA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Grants tenants Right-of-First-Refusal to purchase buildings</a:t>
            </a:r>
          </a:p>
          <a:p>
            <a:r>
              <a:t>• Redirects existing rental subsidies into equity investment</a:t>
            </a:r>
          </a:p>
          <a:p>
            <a:r>
              <a:t>• Establishes city-backed cooperative mortgages via credit unions</a:t>
            </a:r>
          </a:p>
          <a:p>
            <a:r>
              <a:t>• Requires limited-equity resale model to maintain affordability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Fiscal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Cost-neutral implementation using existing subsidies</a:t>
            </a:r>
          </a:p>
          <a:p>
            <a:r>
              <a:t>• $3.2M annual savings per 100-unit pilot</a:t>
            </a:r>
          </a:p>
          <a:p>
            <a:r>
              <a:t>• $82,000 in net wealth per household within 10 years</a:t>
            </a:r>
          </a:p>
          <a:p>
            <a:r>
              <a:t>• Reduced Right to Counsel, code enforcement, and shelter costs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 1: Bronx CD 6, Brooklyn CD 5</a:t>
            </a:r>
          </a:p>
          <a:p>
            <a:r>
              <a:t>• Years 2–3: Harlem, Queens CD 14</a:t>
            </a:r>
          </a:p>
          <a:p>
            <a:r>
              <a:t>• Years 4–5: Staten Island and beyond</a:t>
            </a:r>
          </a:p>
          <a:p>
            <a:r>
              <a:t>• Partner Agencies: HPD, DHCR, Community Credit Unions, Tenant Advocates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Council co-sponsorship for TOPETA legislation</a:t>
            </a:r>
          </a:p>
          <a:p>
            <a:r>
              <a:t>• Prioritization of pilot funding and oversight capacity</a:t>
            </a:r>
          </a:p>
          <a:p>
            <a:r>
              <a:t>• Community board and credit union partnership facilitation</a:t>
            </a:r>
          </a:p>
          <a:p>
            <a:r>
              <a:t>• Public messaging that reframes subsidies as equity investments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