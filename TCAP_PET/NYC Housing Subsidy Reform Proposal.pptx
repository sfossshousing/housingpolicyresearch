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133017" y="1236166"/>
            <a:ext cx="6877891" cy="585192"/>
          </a:xfrm>
          <a:prstGeom prst="rect">
            <a:avLst/>
          </a:prstGeom>
          <a:noFill/>
          <a:ln/>
        </p:spPr>
        <p:txBody>
          <a:bodyPr wrap="square" lIns="0" tIns="0" rIns="0" bIns="0" rtlCol="0" anchor="t"/>
          <a:lstStyle/>
          <a:p>
            <a:pPr algn="ctr" indent="0" marL="0">
              <a:lnSpc>
                <a:spcPts val="4608"/>
              </a:lnSpc>
              <a:buNone/>
            </a:pPr>
            <a:r>
              <a:rPr lang="en-US" sz="3840" b="1" dirty="0">
                <a:solidFill>
                  <a:srgbClr val="06B6D4"/>
                </a:solidFill>
                <a:latin typeface="Segoe UI" pitchFamily="34" charset="0"/>
                <a:ea typeface="Segoe UI" pitchFamily="34" charset="-122"/>
                <a:cs typeface="Segoe UI" pitchFamily="34" charset="-120"/>
              </a:rPr>
              <a:t>NYC Housing Subsidy Reform</a:t>
            </a:r>
            <a:endParaRPr lang="en-US" sz="3840" dirty="0"/>
          </a:p>
        </p:txBody>
      </p:sp>
      <p:sp>
        <p:nvSpPr>
          <p:cNvPr id="4" name="Text 1"/>
          <p:cNvSpPr/>
          <p:nvPr/>
        </p:nvSpPr>
        <p:spPr>
          <a:xfrm>
            <a:off x="1133017" y="1897559"/>
            <a:ext cx="6877891" cy="342900"/>
          </a:xfrm>
          <a:prstGeom prst="rect">
            <a:avLst/>
          </a:prstGeom>
          <a:noFill/>
          <a:ln/>
        </p:spPr>
        <p:txBody>
          <a:bodyPr wrap="square" lIns="0" tIns="0" rIns="0" bIns="0" rtlCol="0" anchor="t"/>
          <a:lstStyle/>
          <a:p>
            <a:pPr algn="ctr" indent="0" marL="0">
              <a:lnSpc>
                <a:spcPts val="2700"/>
              </a:lnSpc>
              <a:buNone/>
            </a:pPr>
            <a:r>
              <a:rPr lang="en-US" sz="2250" dirty="0">
                <a:solidFill>
                  <a:srgbClr val="F1F5F9"/>
                </a:solidFill>
                <a:latin typeface="Segoe UI" pitchFamily="34" charset="0"/>
                <a:ea typeface="Segoe UI" pitchFamily="34" charset="-122"/>
                <a:cs typeface="Segoe UI" pitchFamily="34" charset="-120"/>
              </a:rPr>
              <a:t>Public Equity Transfer Framework (PET)</a:t>
            </a:r>
            <a:endParaRPr lang="en-US" sz="2250" dirty="0"/>
          </a:p>
        </p:txBody>
      </p:sp>
      <p:sp>
        <p:nvSpPr>
          <p:cNvPr id="5" name="Text 2"/>
          <p:cNvSpPr/>
          <p:nvPr/>
        </p:nvSpPr>
        <p:spPr>
          <a:xfrm>
            <a:off x="1238250" y="2850059"/>
            <a:ext cx="6667500" cy="400050"/>
          </a:xfrm>
          <a:prstGeom prst="rect">
            <a:avLst/>
          </a:prstGeom>
          <a:noFill/>
          <a:ln/>
        </p:spPr>
        <p:txBody>
          <a:bodyPr wrap="square" lIns="0" tIns="0" rIns="0" bIns="0" rtlCol="0" anchor="t"/>
          <a:lstStyle/>
          <a:p>
            <a:pPr algn="ctr" indent="0" marL="0">
              <a:lnSpc>
                <a:spcPts val="1215"/>
              </a:lnSpc>
              <a:buNone/>
            </a:pPr>
            <a:r>
              <a:rPr lang="en-US" sz="1350" dirty="0">
                <a:solidFill>
                  <a:srgbClr val="CBD5E1"/>
                </a:solidFill>
                <a:latin typeface="Segoe UI" pitchFamily="34" charset="0"/>
                <a:ea typeface="Segoe UI" pitchFamily="34" charset="-122"/>
                <a:cs typeface="Segoe UI" pitchFamily="34" charset="-120"/>
              </a:rPr>
              <a:t>Restructuring rental subsidies into tenant ownership, maximizing ROI and intergenerational equity while reusing existing agency budgets</a:t>
            </a:r>
            <a:endParaRPr lang="en-US" sz="1350" dirty="0"/>
          </a:p>
        </p:txBody>
      </p:sp>
      <p:sp>
        <p:nvSpPr>
          <p:cNvPr id="6" name="Text 3"/>
          <p:cNvSpPr/>
          <p:nvPr/>
        </p:nvSpPr>
        <p:spPr>
          <a:xfrm>
            <a:off x="969448" y="4164509"/>
            <a:ext cx="7205030" cy="152400"/>
          </a:xfrm>
          <a:prstGeom prst="rect">
            <a:avLst/>
          </a:prstGeom>
          <a:noFill/>
          <a:ln/>
        </p:spPr>
        <p:txBody>
          <a:bodyPr wrap="square" lIns="0" tIns="0" rIns="0" bIns="0" rtlCol="0" anchor="t"/>
          <a:lstStyle/>
          <a:p>
            <a:pPr algn="ctr" indent="0" marL="0">
              <a:lnSpc>
                <a:spcPts val="945"/>
              </a:lnSpc>
              <a:buNone/>
            </a:pPr>
            <a:r>
              <a:rPr lang="en-US" sz="1050" dirty="0">
                <a:solidFill>
                  <a:srgbClr val="06B6D4"/>
                </a:solidFill>
                <a:latin typeface="Segoe UI" pitchFamily="34" charset="0"/>
                <a:ea typeface="Segoe UI" pitchFamily="34" charset="-122"/>
                <a:cs typeface="Segoe UI" pitchFamily="34" charset="-120"/>
              </a:rPr>
              <a:t>NYC Department of Housing Preservation &amp; Development</a:t>
            </a:r>
            <a:pPr algn="ctr" indent="0" marL="0">
              <a:lnSpc>
                <a:spcPts val="945"/>
              </a:lnSpc>
              <a:buNone/>
            </a:pPr>
            <a:r>
              <a:rPr lang="en-US" sz="1050" dirty="0">
                <a:solidFill>
                  <a:srgbClr val="94A3B8"/>
                </a:solidFill>
                <a:latin typeface="Segoe UI" pitchFamily="34" charset="0"/>
                <a:ea typeface="Segoe UI" pitchFamily="34" charset="-122"/>
                <a:cs typeface="Segoe UI" pitchFamily="34" charset="-120"/>
              </a:rPr>
              <a:t> | </a:t>
            </a:r>
            <a:pPr algn="ctr" indent="0" marL="0">
              <a:lnSpc>
                <a:spcPts val="945"/>
              </a:lnSpc>
              <a:buNone/>
            </a:pPr>
            <a:r>
              <a:rPr lang="en-US" sz="1050" dirty="0">
                <a:solidFill>
                  <a:srgbClr val="94A3B8"/>
                </a:solidFill>
                <a:latin typeface="Segoe UI" pitchFamily="34" charset="0"/>
                <a:ea typeface="Segoe UI" pitchFamily="34" charset="-122"/>
                <a:cs typeface="Segoe UI" pitchFamily="34" charset="-120"/>
              </a:rPr>
              <a:t>Submitted to Mayor-Elect Transition Team</a:t>
            </a:r>
            <a:pPr algn="ctr" indent="0" marL="0">
              <a:lnSpc>
                <a:spcPts val="945"/>
              </a:lnSpc>
              <a:buNone/>
            </a:pPr>
            <a:r>
              <a:rPr lang="en-US" sz="1050" dirty="0">
                <a:solidFill>
                  <a:srgbClr val="94A3B8"/>
                </a:solidFill>
                <a:latin typeface="Segoe UI" pitchFamily="34" charset="0"/>
                <a:ea typeface="Segoe UI" pitchFamily="34" charset="-122"/>
                <a:cs typeface="Segoe UI" pitchFamily="34" charset="-120"/>
              </a:rPr>
              <a:t> | </a:t>
            </a:r>
            <a:pPr algn="ctr" indent="0" marL="0">
              <a:lnSpc>
                <a:spcPts val="945"/>
              </a:lnSpc>
              <a:buNone/>
            </a:pPr>
            <a:r>
              <a:rPr lang="en-US" sz="1050" dirty="0">
                <a:solidFill>
                  <a:srgbClr val="94A3B8"/>
                </a:solidFill>
                <a:latin typeface="Segoe UI" pitchFamily="34" charset="0"/>
                <a:ea typeface="Segoe UI" pitchFamily="34" charset="-122"/>
                <a:cs typeface="Segoe UI" pitchFamily="34" charset="-120"/>
              </a:rPr>
              <a:t>December 2025</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3101280"/>
            <a:ext cx="7924800" cy="1042988"/>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3" name="Text 1"/>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Executive Summary: The Problem</a:t>
            </a:r>
            <a:endParaRPr lang="en-US" sz="3000" dirty="0"/>
          </a:p>
        </p:txBody>
      </p:sp>
      <p:sp>
        <p:nvSpPr>
          <p:cNvPr id="4" name="Text 2"/>
          <p:cNvSpPr/>
          <p:nvPr/>
        </p:nvSpPr>
        <p:spPr>
          <a:xfrm>
            <a:off x="914400" y="1295400"/>
            <a:ext cx="7620000" cy="1577280"/>
          </a:xfrm>
          <a:prstGeom prst="rect">
            <a:avLst/>
          </a:prstGeom>
          <a:noFill/>
          <a:ln/>
        </p:spPr>
        <p:txBody>
          <a:bodyPr wrap="square" lIns="0" tIns="0" rIns="0" bIns="0" rtlCol="0" anchor="t"/>
          <a:lstStyle/>
          <a:p>
            <a:pPr marL="342900" indent="-342900">
              <a:lnSpc>
                <a:spcPts val="2430"/>
              </a:lnSpc>
              <a:buSzPct val="100000"/>
              <a:buChar char="•"/>
            </a:pPr>
            <a:r>
              <a:rPr lang="en-US" sz="1350" b="1" dirty="0">
                <a:solidFill>
                  <a:srgbClr val="CBD5E1"/>
                </a:solidFill>
                <a:latin typeface="Segoe UI" pitchFamily="34" charset="0"/>
                <a:ea typeface="Segoe UI" pitchFamily="34" charset="-122"/>
                <a:cs typeface="Segoe UI" pitchFamily="34" charset="-120"/>
              </a:rPr>
              <a:t>$5.7B annually</a:t>
            </a:r>
            <a:pPr indent="0" marL="0">
              <a:lnSpc>
                <a:spcPts val="2430"/>
              </a:lnSpc>
              <a:buNone/>
            </a:pPr>
            <a:r>
              <a:rPr lang="en-US" sz="1350" dirty="0">
                <a:solidFill>
                  <a:srgbClr val="CBD5E1"/>
                </a:solidFill>
                <a:latin typeface="Segoe UI" pitchFamily="34" charset="0"/>
                <a:ea typeface="Segoe UI" pitchFamily="34" charset="-122"/>
                <a:cs typeface="Segoe UI" pitchFamily="34" charset="-120"/>
              </a:rPr>
              <a:t> spent on rental subsidies serving 455K households in temporary solutions</a:t>
            </a:r>
            <a:endParaRPr lang="en-US" sz="1350" dirty="0"/>
          </a:p>
          <a:p>
            <a:pPr marL="342900" indent="-342900">
              <a:lnSpc>
                <a:spcPts val="2430"/>
              </a:lnSpc>
              <a:buSzPct val="100000"/>
              <a:buChar char="•"/>
            </a:pPr>
            <a:r>
              <a:rPr lang="en-US" sz="1350" b="1" dirty="0">
                <a:solidFill>
                  <a:srgbClr val="CBD5E1"/>
                </a:solidFill>
                <a:latin typeface="Segoe UI" pitchFamily="34" charset="0"/>
                <a:ea typeface="Segoe UI" pitchFamily="34" charset="-122"/>
                <a:cs typeface="Segoe UI" pitchFamily="34" charset="-120"/>
              </a:rPr>
              <a:t>Zero cumulative equity:</a:t>
            </a:r>
            <a:pPr indent="0" marL="0">
              <a:lnSpc>
                <a:spcPts val="2430"/>
              </a:lnSpc>
              <a:buNone/>
            </a:pPr>
            <a:r>
              <a:rPr lang="en-US" sz="1350" dirty="0">
                <a:solidFill>
                  <a:srgbClr val="CBD5E1"/>
                </a:solidFill>
                <a:latin typeface="Segoe UI" pitchFamily="34" charset="0"/>
                <a:ea typeface="Segoe UI" pitchFamily="34" charset="-122"/>
                <a:cs typeface="Segoe UI" pitchFamily="34" charset="-120"/>
              </a:rPr>
              <a:t> Rent payments disappear; tenants gain no ownership stake</a:t>
            </a:r>
            <a:endParaRPr lang="en-US" sz="1350" dirty="0"/>
          </a:p>
          <a:p>
            <a:pPr marL="342900" indent="-342900">
              <a:lnSpc>
                <a:spcPts val="2430"/>
              </a:lnSpc>
              <a:buSzPct val="100000"/>
              <a:buChar char="•"/>
            </a:pPr>
            <a:r>
              <a:rPr lang="en-US" sz="1350" b="1" dirty="0">
                <a:solidFill>
                  <a:srgbClr val="CBD5E1"/>
                </a:solidFill>
                <a:latin typeface="Segoe UI" pitchFamily="34" charset="0"/>
                <a:ea typeface="Segoe UI" pitchFamily="34" charset="-122"/>
                <a:cs typeface="Segoe UI" pitchFamily="34" charset="-120"/>
              </a:rPr>
              <a:t>Intergenerational displacement:</a:t>
            </a:r>
            <a:pPr indent="0" marL="0">
              <a:lnSpc>
                <a:spcPts val="2430"/>
              </a:lnSpc>
              <a:buNone/>
            </a:pPr>
            <a:r>
              <a:rPr lang="en-US" sz="1350" dirty="0">
                <a:solidFill>
                  <a:srgbClr val="CBD5E1"/>
                </a:solidFill>
                <a:latin typeface="Segoe UI" pitchFamily="34" charset="0"/>
                <a:ea typeface="Segoe UI" pitchFamily="34" charset="-122"/>
                <a:cs typeface="Segoe UI" pitchFamily="34" charset="-120"/>
              </a:rPr>
              <a:t> Subsidies end; families exit housing market entirely</a:t>
            </a:r>
            <a:endParaRPr lang="en-US" sz="1350" dirty="0"/>
          </a:p>
          <a:p>
            <a:pPr marL="342900" indent="-342900">
              <a:lnSpc>
                <a:spcPts val="2430"/>
              </a:lnSpc>
              <a:buSzPct val="100000"/>
              <a:buChar char="•"/>
            </a:pPr>
            <a:r>
              <a:rPr lang="en-US" sz="1350" b="1" dirty="0">
                <a:solidFill>
                  <a:srgbClr val="CBD5E1"/>
                </a:solidFill>
                <a:latin typeface="Segoe UI" pitchFamily="34" charset="0"/>
                <a:ea typeface="Segoe UI" pitchFamily="34" charset="-122"/>
                <a:cs typeface="Segoe UI" pitchFamily="34" charset="-120"/>
              </a:rPr>
              <a:t>Efficiency gap:</a:t>
            </a:r>
            <a:pPr indent="0" marL="0">
              <a:lnSpc>
                <a:spcPts val="2430"/>
              </a:lnSpc>
              <a:buNone/>
            </a:pPr>
            <a:r>
              <a:rPr lang="en-US" sz="1350" dirty="0">
                <a:solidFill>
                  <a:srgbClr val="CBD5E1"/>
                </a:solidFill>
                <a:latin typeface="Segoe UI" pitchFamily="34" charset="0"/>
                <a:ea typeface="Segoe UI" pitchFamily="34" charset="-122"/>
                <a:cs typeface="Segoe UI" pitchFamily="34" charset="-120"/>
              </a:rPr>
              <a:t> Administrative overhead (20-30%) vs. direct housing investment</a:t>
            </a:r>
            <a:endParaRPr lang="en-US" sz="1350" dirty="0"/>
          </a:p>
        </p:txBody>
      </p:sp>
      <p:sp>
        <p:nvSpPr>
          <p:cNvPr id="5" name="Text 3"/>
          <p:cNvSpPr/>
          <p:nvPr/>
        </p:nvSpPr>
        <p:spPr>
          <a:xfrm>
            <a:off x="876300" y="3329880"/>
            <a:ext cx="7578090" cy="176213"/>
          </a:xfrm>
          <a:prstGeom prst="rect">
            <a:avLst/>
          </a:prstGeom>
          <a:noFill/>
          <a:ln/>
        </p:spPr>
        <p:txBody>
          <a:bodyPr wrap="square" lIns="0" tIns="0" rIns="0" bIns="0" rtlCol="0" anchor="t"/>
          <a:lstStyle/>
          <a:p>
            <a:pPr indent="0" marL="0">
              <a:lnSpc>
                <a:spcPts val="1080"/>
              </a:lnSpc>
              <a:buNone/>
            </a:pPr>
            <a:r>
              <a:rPr lang="en-US" sz="1200" b="1" dirty="0">
                <a:solidFill>
                  <a:srgbClr val="FECACA"/>
                </a:solidFill>
                <a:latin typeface="Segoe UI" pitchFamily="34" charset="0"/>
                <a:ea typeface="Segoe UI" pitchFamily="34" charset="-122"/>
                <a:cs typeface="Segoe UI" pitchFamily="34" charset="-120"/>
              </a:rPr>
              <a:t>Current Model Status:</a:t>
            </a:r>
            <a:endParaRPr lang="en-US" sz="1200" dirty="0"/>
          </a:p>
        </p:txBody>
      </p:sp>
      <p:sp>
        <p:nvSpPr>
          <p:cNvPr id="6" name="Text 4"/>
          <p:cNvSpPr/>
          <p:nvPr/>
        </p:nvSpPr>
        <p:spPr>
          <a:xfrm>
            <a:off x="876300" y="3582293"/>
            <a:ext cx="7429500" cy="333375"/>
          </a:xfrm>
          <a:prstGeom prst="rect">
            <a:avLst/>
          </a:prstGeom>
          <a:noFill/>
          <a:ln/>
        </p:spPr>
        <p:txBody>
          <a:bodyPr wrap="square" lIns="0" tIns="0" rIns="0" bIns="0" rtlCol="0" anchor="t"/>
          <a:lstStyle/>
          <a:p>
            <a:pPr indent="0" marL="0">
              <a:lnSpc>
                <a:spcPts val="1026"/>
              </a:lnSpc>
              <a:buNone/>
            </a:pPr>
            <a:r>
              <a:rPr lang="en-US" sz="1140" dirty="0">
                <a:solidFill>
                  <a:srgbClr val="CBD5E1"/>
                </a:solidFill>
                <a:latin typeface="Segoe UI" pitchFamily="34" charset="0"/>
                <a:ea typeface="Segoe UI" pitchFamily="34" charset="-122"/>
                <a:cs typeface="Segoe UI" pitchFamily="34" charset="-120"/>
              </a:rPr>
              <a:t>NYC spends more on subsidies than Vienna, yet achieves lower affordability outcomes—because Vienna invests in public ownership.</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The Solution: Public Equity Transfer (PET)</a:t>
            </a:r>
            <a:endParaRPr lang="en-US" sz="3000" dirty="0"/>
          </a:p>
        </p:txBody>
      </p:sp>
      <p:sp>
        <p:nvSpPr>
          <p:cNvPr id="3" name="Text 1"/>
          <p:cNvSpPr/>
          <p:nvPr/>
        </p:nvSpPr>
        <p:spPr>
          <a:xfrm>
            <a:off x="609600" y="1295400"/>
            <a:ext cx="8083296" cy="274290"/>
          </a:xfrm>
          <a:prstGeom prst="rect">
            <a:avLst/>
          </a:prstGeom>
          <a:noFill/>
          <a:ln/>
        </p:spPr>
        <p:txBody>
          <a:bodyPr wrap="square" lIns="0" tIns="0" rIns="0" bIns="0" rtlCol="0" anchor="t"/>
          <a:lstStyle/>
          <a:p>
            <a:pPr indent="0" marL="0">
              <a:lnSpc>
                <a:spcPts val="2160"/>
              </a:lnSpc>
              <a:buNone/>
            </a:pPr>
            <a:r>
              <a:rPr lang="en-US" sz="1800" b="1" dirty="0">
                <a:solidFill>
                  <a:srgbClr val="10B981"/>
                </a:solidFill>
                <a:latin typeface="Segoe UI" pitchFamily="34" charset="0"/>
                <a:ea typeface="Segoe UI" pitchFamily="34" charset="-122"/>
                <a:cs typeface="Segoe UI" pitchFamily="34" charset="-120"/>
              </a:rPr>
              <a:t>1. Redirect Subsidies</a:t>
            </a:r>
            <a:endParaRPr lang="en-US" sz="1800" dirty="0"/>
          </a:p>
        </p:txBody>
      </p:sp>
      <p:sp>
        <p:nvSpPr>
          <p:cNvPr id="4" name="Text 2"/>
          <p:cNvSpPr/>
          <p:nvPr/>
        </p:nvSpPr>
        <p:spPr>
          <a:xfrm>
            <a:off x="609600" y="1683990"/>
            <a:ext cx="8083296" cy="231651"/>
          </a:xfrm>
          <a:prstGeom prst="rect">
            <a:avLst/>
          </a:prstGeom>
          <a:noFill/>
          <a:ln/>
        </p:spPr>
        <p:txBody>
          <a:bodyPr wrap="square" lIns="0" tIns="0" rIns="0" bIns="0" rtlCol="0" anchor="t"/>
          <a:lstStyle/>
          <a:p>
            <a:pPr indent="0" marL="0">
              <a:lnSpc>
                <a:spcPts val="1824"/>
              </a:lnSpc>
              <a:buNone/>
            </a:pPr>
            <a:r>
              <a:rPr lang="en-US" sz="1140" dirty="0">
                <a:solidFill>
                  <a:srgbClr val="CBD5E1"/>
                </a:solidFill>
                <a:latin typeface="Segoe UI" pitchFamily="34" charset="0"/>
                <a:ea typeface="Segoe UI" pitchFamily="34" charset="-122"/>
                <a:cs typeface="Segoe UI" pitchFamily="34" charset="-120"/>
              </a:rPr>
              <a:t>Convert HRA rental vouchers into down-payment reserves managed by member-owned credit unions.</a:t>
            </a:r>
            <a:endParaRPr lang="en-US" sz="1140" dirty="0"/>
          </a:p>
        </p:txBody>
      </p:sp>
      <p:sp>
        <p:nvSpPr>
          <p:cNvPr id="5" name="Text 3"/>
          <p:cNvSpPr/>
          <p:nvPr/>
        </p:nvSpPr>
        <p:spPr>
          <a:xfrm>
            <a:off x="609600" y="1915641"/>
            <a:ext cx="8083296" cy="274290"/>
          </a:xfrm>
          <a:prstGeom prst="rect">
            <a:avLst/>
          </a:prstGeom>
          <a:noFill/>
          <a:ln/>
        </p:spPr>
        <p:txBody>
          <a:bodyPr wrap="square" lIns="0" tIns="0" rIns="0" bIns="0" rtlCol="0" anchor="t"/>
          <a:lstStyle/>
          <a:p>
            <a:pPr indent="0" marL="0">
              <a:lnSpc>
                <a:spcPts val="2160"/>
              </a:lnSpc>
              <a:buNone/>
            </a:pPr>
            <a:r>
              <a:rPr lang="en-US" sz="1800" b="1" dirty="0">
                <a:solidFill>
                  <a:srgbClr val="3B82F6"/>
                </a:solidFill>
                <a:latin typeface="Segoe UI" pitchFamily="34" charset="0"/>
                <a:ea typeface="Segoe UI" pitchFamily="34" charset="-122"/>
                <a:cs typeface="Segoe UI" pitchFamily="34" charset="-120"/>
              </a:rPr>
              <a:t>2. Build Tenant Equity</a:t>
            </a:r>
            <a:endParaRPr lang="en-US" sz="1800" dirty="0"/>
          </a:p>
        </p:txBody>
      </p:sp>
      <p:sp>
        <p:nvSpPr>
          <p:cNvPr id="6" name="Text 4"/>
          <p:cNvSpPr/>
          <p:nvPr/>
        </p:nvSpPr>
        <p:spPr>
          <a:xfrm>
            <a:off x="609600" y="2304231"/>
            <a:ext cx="8083296" cy="231651"/>
          </a:xfrm>
          <a:prstGeom prst="rect">
            <a:avLst/>
          </a:prstGeom>
          <a:noFill/>
          <a:ln/>
        </p:spPr>
        <p:txBody>
          <a:bodyPr wrap="square" lIns="0" tIns="0" rIns="0" bIns="0" rtlCol="0" anchor="t"/>
          <a:lstStyle/>
          <a:p>
            <a:pPr indent="0" marL="0">
              <a:lnSpc>
                <a:spcPts val="1824"/>
              </a:lnSpc>
              <a:buNone/>
            </a:pPr>
            <a:r>
              <a:rPr lang="en-US" sz="1140" dirty="0">
                <a:solidFill>
                  <a:srgbClr val="CBD5E1"/>
                </a:solidFill>
                <a:latin typeface="Segoe UI" pitchFamily="34" charset="0"/>
                <a:ea typeface="Segoe UI" pitchFamily="34" charset="-122"/>
                <a:cs typeface="Segoe UI" pitchFamily="34" charset="-120"/>
              </a:rPr>
              <a:t>Accrue 20-40% ownership equity in 10-15 years through TCAP (Tenant Credit Accumulation Program).</a:t>
            </a:r>
            <a:endParaRPr lang="en-US" sz="1140" dirty="0"/>
          </a:p>
        </p:txBody>
      </p:sp>
      <p:sp>
        <p:nvSpPr>
          <p:cNvPr id="7" name="Text 5"/>
          <p:cNvSpPr/>
          <p:nvPr/>
        </p:nvSpPr>
        <p:spPr>
          <a:xfrm>
            <a:off x="609600" y="2535882"/>
            <a:ext cx="8083296" cy="274290"/>
          </a:xfrm>
          <a:prstGeom prst="rect">
            <a:avLst/>
          </a:prstGeom>
          <a:noFill/>
          <a:ln/>
        </p:spPr>
        <p:txBody>
          <a:bodyPr wrap="square" lIns="0" tIns="0" rIns="0" bIns="0" rtlCol="0" anchor="t"/>
          <a:lstStyle/>
          <a:p>
            <a:pPr indent="0" marL="0">
              <a:lnSpc>
                <a:spcPts val="2160"/>
              </a:lnSpc>
              <a:buNone/>
            </a:pPr>
            <a:r>
              <a:rPr lang="en-US" sz="1800" b="1" dirty="0">
                <a:solidFill>
                  <a:srgbClr val="F59E0B"/>
                </a:solidFill>
                <a:latin typeface="Segoe UI" pitchFamily="34" charset="0"/>
                <a:ea typeface="Segoe UI" pitchFamily="34" charset="-122"/>
                <a:cs typeface="Segoe UI" pitchFamily="34" charset="-120"/>
              </a:rPr>
              <a:t>3. Generate ROI</a:t>
            </a:r>
            <a:endParaRPr lang="en-US" sz="1800" dirty="0"/>
          </a:p>
        </p:txBody>
      </p:sp>
      <p:sp>
        <p:nvSpPr>
          <p:cNvPr id="8" name="Text 6"/>
          <p:cNvSpPr/>
          <p:nvPr/>
        </p:nvSpPr>
        <p:spPr>
          <a:xfrm>
            <a:off x="609600" y="2924473"/>
            <a:ext cx="8083296" cy="231651"/>
          </a:xfrm>
          <a:prstGeom prst="rect">
            <a:avLst/>
          </a:prstGeom>
          <a:noFill/>
          <a:ln/>
        </p:spPr>
        <p:txBody>
          <a:bodyPr wrap="square" lIns="0" tIns="0" rIns="0" bIns="0" rtlCol="0" anchor="t"/>
          <a:lstStyle/>
          <a:p>
            <a:pPr indent="0" marL="0">
              <a:lnSpc>
                <a:spcPts val="1824"/>
              </a:lnSpc>
              <a:buNone/>
            </a:pPr>
            <a:r>
              <a:rPr lang="en-US" sz="1140" dirty="0">
                <a:solidFill>
                  <a:srgbClr val="CBD5E1"/>
                </a:solidFill>
                <a:latin typeface="Segoe UI" pitchFamily="34" charset="0"/>
                <a:ea typeface="Segoe UI" pitchFamily="34" charset="-122"/>
                <a:cs typeface="Segoe UI" pitchFamily="34" charset="-120"/>
              </a:rPr>
              <a:t>Reuse $600M annually for new affordable housing, reducing net cost per household by 35%.</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600" y="1371600"/>
          <a:ext cx="7924800" cy="2114550"/>
        </p:xfrm>
        <a:graphic>
          <a:graphicData uri="http://schemas.openxmlformats.org/drawingml/2006/table">
            <a:tbl>
              <a:tblPr/>
              <a:tblGrid>
                <a:gridCol w="1981200"/>
                <a:gridCol w="1981200"/>
                <a:gridCol w="1981200"/>
                <a:gridCol w="1981200"/>
              </a:tblGrid>
              <a:tr h="422910">
                <a:tc>
                  <a:txBody>
                    <a:bodyPr/>
                    <a:lstStyle/>
                    <a:p>
                      <a:pPr algn="l" indent="0" marL="0">
                        <a:buNone/>
                      </a:pPr>
                      <a:r>
                        <a:rPr lang="en-US" sz="1050" b="1" dirty="0">
                          <a:solidFill>
                            <a:srgbClr val="06B6D4"/>
                          </a:solidFill>
                          <a:latin typeface="Segoe UI" pitchFamily="34" charset="0"/>
                          <a:ea typeface="Segoe UI" pitchFamily="34" charset="-122"/>
                          <a:cs typeface="Segoe UI" pitchFamily="34" charset="-120"/>
                        </a:rPr>
                        <a:t>Metric</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050" b="1" dirty="0">
                          <a:solidFill>
                            <a:srgbClr val="CBD5E1"/>
                          </a:solidFill>
                          <a:latin typeface="Segoe UI" pitchFamily="34" charset="0"/>
                          <a:ea typeface="Segoe UI" pitchFamily="34" charset="-122"/>
                          <a:cs typeface="Segoe UI" pitchFamily="34" charset="-120"/>
                        </a:rPr>
                        <a:t>Current NYC Model</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050" b="1" dirty="0">
                          <a:solidFill>
                            <a:srgbClr val="10B981"/>
                          </a:solidFill>
                          <a:latin typeface="Segoe UI" pitchFamily="34" charset="0"/>
                          <a:ea typeface="Segoe UI" pitchFamily="34" charset="-122"/>
                          <a:cs typeface="Segoe UI" pitchFamily="34" charset="-120"/>
                        </a:rPr>
                        <a:t>PET Framework</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050" b="1" dirty="0">
                          <a:solidFill>
                            <a:srgbClr val="F59E0B"/>
                          </a:solidFill>
                          <a:latin typeface="Segoe UI" pitchFamily="34" charset="0"/>
                          <a:ea typeface="Segoe UI" pitchFamily="34" charset="-122"/>
                          <a:cs typeface="Segoe UI" pitchFamily="34" charset="-120"/>
                        </a:rPr>
                        <a:t>Improvement</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r>
              <a:tr h="422910">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Annual Cost per HH</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$12,500 (voucher rent)</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$8,120 (deposit + subsidy)</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10B981"/>
                          </a:solidFill>
                          <a:latin typeface="Segoe UI" pitchFamily="34" charset="0"/>
                          <a:ea typeface="Segoe UI" pitchFamily="34" charset="-122"/>
                          <a:cs typeface="Segoe UI" pitchFamily="34" charset="-120"/>
                        </a:rPr>
                        <a:t>-35%</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r>
              <a:tr h="422910">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10-Year Tenant Equity</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$120,000-$180,000</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10B981"/>
                          </a:solidFill>
                          <a:latin typeface="Segoe UI" pitchFamily="34" charset="0"/>
                          <a:ea typeface="Segoe UI" pitchFamily="34" charset="-122"/>
                          <a:cs typeface="Segoe UI" pitchFamily="34" charset="-120"/>
                        </a:rPr>
                        <a:t>100% gain</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r>
              <a:tr h="422910">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Program Sustainability</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Dependent on subsidy renewal</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Self-sustaining credit union model</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10B981"/>
                          </a:solidFill>
                          <a:latin typeface="Segoe UI" pitchFamily="34" charset="0"/>
                          <a:ea typeface="Segoe UI" pitchFamily="34" charset="-122"/>
                          <a:cs typeface="Segoe UI" pitchFamily="34" charset="-120"/>
                        </a:rPr>
                        <a:t>Permanent</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r>
              <a:tr h="422910">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Intergenerational Wealth</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None</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$600K+ per family in 30 yrs</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10B981"/>
                          </a:solidFill>
                          <a:latin typeface="Segoe UI" pitchFamily="34" charset="0"/>
                          <a:ea typeface="Segoe UI" pitchFamily="34" charset="-122"/>
                          <a:cs typeface="Segoe UI" pitchFamily="34" charset="-120"/>
                        </a:rPr>
                        <a:t>Unlimited</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r>
            </a:tbl>
          </a:graphicData>
        </a:graphic>
      </p:graphicFrame>
      <p:sp>
        <p:nvSpPr>
          <p:cNvPr id="3" name="Text 0"/>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Current Policy vs. PET: Head-to-Head</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1295400"/>
            <a:ext cx="7924800" cy="1085850"/>
          </a:xfrm>
          <a:prstGeom prst="rect">
            <a:avLst/>
          </a:prstGeom>
          <a:noFill/>
          <a:ln w="9525">
            <a:solidFill>
              <a:srgbClr val="334155"/>
            </a:solidFill>
          </a:ln>
        </p:spPr>
        <p:txBody>
          <a:bodyPr wrap="none" lIns="0" tIns="0" rIns="0" bIns="0" rtlCol="0" anchor="ctr">
            <a:normAutofit/>
          </a:bodyPr>
          <a:lstStyle/>
          <a:p>
            <a:pPr indent="0" marL="0">
              <a:buNone/>
            </a:pPr>
            <a:endParaRPr lang="en-US" dirty="0"/>
          </a:p>
        </p:txBody>
      </p:sp>
      <p:sp>
        <p:nvSpPr>
          <p:cNvPr id="3" name="Text 1"/>
          <p:cNvSpPr/>
          <p:nvPr/>
        </p:nvSpPr>
        <p:spPr>
          <a:xfrm>
            <a:off x="609600" y="2381250"/>
            <a:ext cx="7924800" cy="1085850"/>
          </a:xfrm>
          <a:prstGeom prst="rect">
            <a:avLst/>
          </a:prstGeom>
          <a:noFill/>
          <a:ln w="9525">
            <a:solidFill>
              <a:srgbClr val="334155"/>
            </a:solidFill>
          </a:ln>
        </p:spPr>
        <p:txBody>
          <a:bodyPr wrap="none" lIns="0" tIns="0" rIns="0" bIns="0" rtlCol="0" anchor="ctr">
            <a:normAutofit/>
          </a:bodyPr>
          <a:lstStyle/>
          <a:p>
            <a:pPr indent="0" marL="0">
              <a:buNone/>
            </a:pPr>
            <a:endParaRPr lang="en-US" dirty="0"/>
          </a:p>
        </p:txBody>
      </p:sp>
      <p:sp>
        <p:nvSpPr>
          <p:cNvPr id="4" name="Text 2"/>
          <p:cNvSpPr/>
          <p:nvPr/>
        </p:nvSpPr>
        <p:spPr>
          <a:xfrm>
            <a:off x="609600" y="3467100"/>
            <a:ext cx="7924800" cy="1085850"/>
          </a:xfrm>
          <a:prstGeom prst="rect">
            <a:avLst/>
          </a:prstGeom>
          <a:noFill/>
          <a:ln w="9525">
            <a:solidFill>
              <a:srgbClr val="334155"/>
            </a:solidFill>
          </a:ln>
        </p:spPr>
        <p:txBody>
          <a:bodyPr wrap="none" lIns="0" tIns="0" rIns="0" bIns="0" rtlCol="0" anchor="ctr">
            <a:normAutofit/>
          </a:bodyPr>
          <a:lstStyle/>
          <a:p>
            <a:pPr indent="0" marL="0">
              <a:buNone/>
            </a:pPr>
            <a:endParaRPr lang="en-US" dirty="0"/>
          </a:p>
        </p:txBody>
      </p:sp>
      <p:sp>
        <p:nvSpPr>
          <p:cNvPr id="5" name="Text 3"/>
          <p:cNvSpPr/>
          <p:nvPr/>
        </p:nvSpPr>
        <p:spPr>
          <a:xfrm>
            <a:off x="609600" y="4552950"/>
            <a:ext cx="7924800" cy="1085850"/>
          </a:xfrm>
          <a:prstGeom prst="rect">
            <a:avLst/>
          </a:prstGeom>
          <a:noFill/>
          <a:ln w="9525">
            <a:solidFill>
              <a:srgbClr val="334155"/>
            </a:solidFill>
          </a:ln>
        </p:spPr>
        <p:txBody>
          <a:bodyPr wrap="none" lIns="0" tIns="0" rIns="0" bIns="0" rtlCol="0" anchor="ctr">
            <a:normAutofit/>
          </a:bodyPr>
          <a:lstStyle/>
          <a:p>
            <a:pPr indent="0" marL="0">
              <a:buNone/>
            </a:pPr>
            <a:endParaRPr lang="en-US" dirty="0"/>
          </a:p>
        </p:txBody>
      </p:sp>
      <p:sp>
        <p:nvSpPr>
          <p:cNvPr id="6" name="Text 4"/>
          <p:cNvSpPr/>
          <p:nvPr/>
        </p:nvSpPr>
        <p:spPr>
          <a:xfrm>
            <a:off x="609600" y="5943600"/>
            <a:ext cx="7924800" cy="623888"/>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7" name="Text 5"/>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NYC Housing Crisis: The Data</a:t>
            </a:r>
            <a:endParaRPr lang="en-US" sz="3000" dirty="0"/>
          </a:p>
        </p:txBody>
      </p:sp>
      <p:sp>
        <p:nvSpPr>
          <p:cNvPr id="8" name="Text 6"/>
          <p:cNvSpPr/>
          <p:nvPr/>
        </p:nvSpPr>
        <p:spPr>
          <a:xfrm>
            <a:off x="773240" y="1533525"/>
            <a:ext cx="7597521" cy="381000"/>
          </a:xfrm>
          <a:prstGeom prst="rect">
            <a:avLst/>
          </a:prstGeom>
          <a:noFill/>
          <a:ln/>
        </p:spPr>
        <p:txBody>
          <a:bodyPr wrap="square" lIns="0" tIns="0" rIns="0" bIns="0" rtlCol="0" anchor="t"/>
          <a:lstStyle/>
          <a:p>
            <a:pPr algn="ctr" indent="0" marL="0">
              <a:lnSpc>
                <a:spcPts val="3000"/>
              </a:lnSpc>
              <a:buNone/>
            </a:pPr>
            <a:r>
              <a:rPr lang="en-US" sz="3000" b="1" dirty="0">
                <a:solidFill>
                  <a:srgbClr val="06B6D4"/>
                </a:solidFill>
                <a:latin typeface="Segoe UI" pitchFamily="34" charset="0"/>
                <a:ea typeface="Segoe UI" pitchFamily="34" charset="-122"/>
                <a:cs typeface="Segoe UI" pitchFamily="34" charset="-120"/>
              </a:rPr>
              <a:t>155K</a:t>
            </a:r>
            <a:endParaRPr lang="en-US" sz="3000" dirty="0"/>
          </a:p>
        </p:txBody>
      </p:sp>
      <p:sp>
        <p:nvSpPr>
          <p:cNvPr id="9" name="Text 7"/>
          <p:cNvSpPr/>
          <p:nvPr/>
        </p:nvSpPr>
        <p:spPr>
          <a:xfrm>
            <a:off x="773240" y="1990725"/>
            <a:ext cx="7597521" cy="152400"/>
          </a:xfrm>
          <a:prstGeom prst="rect">
            <a:avLst/>
          </a:prstGeom>
          <a:noFill/>
          <a:ln/>
        </p:spPr>
        <p:txBody>
          <a:bodyPr wrap="square" lIns="0" tIns="0" rIns="0" bIns="0" rtlCol="0" anchor="t"/>
          <a:lstStyle/>
          <a:p>
            <a:pPr algn="ctr" indent="0" marL="0">
              <a:lnSpc>
                <a:spcPts val="945"/>
              </a:lnSpc>
              <a:buNone/>
            </a:pPr>
            <a:r>
              <a:rPr lang="en-US" sz="1050" dirty="0">
                <a:solidFill>
                  <a:srgbClr val="CBD5E1"/>
                </a:solidFill>
                <a:latin typeface="Segoe UI" pitchFamily="34" charset="0"/>
                <a:ea typeface="Segoe UI" pitchFamily="34" charset="-122"/>
                <a:cs typeface="Segoe UI" pitchFamily="34" charset="-120"/>
              </a:rPr>
              <a:t>Students Homeless (2024-25)</a:t>
            </a:r>
            <a:endParaRPr lang="en-US" sz="1050" dirty="0"/>
          </a:p>
        </p:txBody>
      </p:sp>
      <p:sp>
        <p:nvSpPr>
          <p:cNvPr id="10" name="Text 8"/>
          <p:cNvSpPr/>
          <p:nvPr/>
        </p:nvSpPr>
        <p:spPr>
          <a:xfrm>
            <a:off x="773240" y="2619375"/>
            <a:ext cx="7597521" cy="381000"/>
          </a:xfrm>
          <a:prstGeom prst="rect">
            <a:avLst/>
          </a:prstGeom>
          <a:noFill/>
          <a:ln/>
        </p:spPr>
        <p:txBody>
          <a:bodyPr wrap="square" lIns="0" tIns="0" rIns="0" bIns="0" rtlCol="0" anchor="t"/>
          <a:lstStyle/>
          <a:p>
            <a:pPr algn="ctr" indent="0" marL="0">
              <a:lnSpc>
                <a:spcPts val="3000"/>
              </a:lnSpc>
              <a:buNone/>
            </a:pPr>
            <a:r>
              <a:rPr lang="en-US" sz="3000" b="1" dirty="0">
                <a:solidFill>
                  <a:srgbClr val="06B6D4"/>
                </a:solidFill>
                <a:latin typeface="Segoe UI" pitchFamily="34" charset="0"/>
                <a:ea typeface="Segoe UI" pitchFamily="34" charset="-122"/>
                <a:cs typeface="Segoe UI" pitchFamily="34" charset="-120"/>
              </a:rPr>
              <a:t>$5.7B</a:t>
            </a:r>
            <a:endParaRPr lang="en-US" sz="3000" dirty="0"/>
          </a:p>
        </p:txBody>
      </p:sp>
      <p:sp>
        <p:nvSpPr>
          <p:cNvPr id="11" name="Text 9"/>
          <p:cNvSpPr/>
          <p:nvPr/>
        </p:nvSpPr>
        <p:spPr>
          <a:xfrm>
            <a:off x="773240" y="3076575"/>
            <a:ext cx="7597521" cy="152400"/>
          </a:xfrm>
          <a:prstGeom prst="rect">
            <a:avLst/>
          </a:prstGeom>
          <a:noFill/>
          <a:ln/>
        </p:spPr>
        <p:txBody>
          <a:bodyPr wrap="square" lIns="0" tIns="0" rIns="0" bIns="0" rtlCol="0" anchor="t"/>
          <a:lstStyle/>
          <a:p>
            <a:pPr algn="ctr" indent="0" marL="0">
              <a:lnSpc>
                <a:spcPts val="945"/>
              </a:lnSpc>
              <a:buNone/>
            </a:pPr>
            <a:r>
              <a:rPr lang="en-US" sz="1050" dirty="0">
                <a:solidFill>
                  <a:srgbClr val="CBD5E1"/>
                </a:solidFill>
                <a:latin typeface="Segoe UI" pitchFamily="34" charset="0"/>
                <a:ea typeface="Segoe UI" pitchFamily="34" charset="-122"/>
                <a:cs typeface="Segoe UI" pitchFamily="34" charset="-120"/>
              </a:rPr>
              <a:t>Annual Subsidy Spend</a:t>
            </a:r>
            <a:endParaRPr lang="en-US" sz="1050" dirty="0"/>
          </a:p>
        </p:txBody>
      </p:sp>
      <p:sp>
        <p:nvSpPr>
          <p:cNvPr id="12" name="Text 10"/>
          <p:cNvSpPr/>
          <p:nvPr/>
        </p:nvSpPr>
        <p:spPr>
          <a:xfrm>
            <a:off x="773240" y="3705225"/>
            <a:ext cx="7597521" cy="381000"/>
          </a:xfrm>
          <a:prstGeom prst="rect">
            <a:avLst/>
          </a:prstGeom>
          <a:noFill/>
          <a:ln/>
        </p:spPr>
        <p:txBody>
          <a:bodyPr wrap="square" lIns="0" tIns="0" rIns="0" bIns="0" rtlCol="0" anchor="t"/>
          <a:lstStyle/>
          <a:p>
            <a:pPr algn="ctr" indent="0" marL="0">
              <a:lnSpc>
                <a:spcPts val="3000"/>
              </a:lnSpc>
              <a:buNone/>
            </a:pPr>
            <a:r>
              <a:rPr lang="en-US" sz="3000" b="1" dirty="0">
                <a:solidFill>
                  <a:srgbClr val="06B6D4"/>
                </a:solidFill>
                <a:latin typeface="Segoe UI" pitchFamily="34" charset="0"/>
                <a:ea typeface="Segoe UI" pitchFamily="34" charset="-122"/>
                <a:cs typeface="Segoe UI" pitchFamily="34" charset="-120"/>
              </a:rPr>
              <a:t>60%</a:t>
            </a:r>
            <a:endParaRPr lang="en-US" sz="3000" dirty="0"/>
          </a:p>
        </p:txBody>
      </p:sp>
      <p:sp>
        <p:nvSpPr>
          <p:cNvPr id="13" name="Text 11"/>
          <p:cNvSpPr/>
          <p:nvPr/>
        </p:nvSpPr>
        <p:spPr>
          <a:xfrm>
            <a:off x="773240" y="4162425"/>
            <a:ext cx="7597521" cy="152400"/>
          </a:xfrm>
          <a:prstGeom prst="rect">
            <a:avLst/>
          </a:prstGeom>
          <a:noFill/>
          <a:ln/>
        </p:spPr>
        <p:txBody>
          <a:bodyPr wrap="square" lIns="0" tIns="0" rIns="0" bIns="0" rtlCol="0" anchor="t"/>
          <a:lstStyle/>
          <a:p>
            <a:pPr algn="ctr" indent="0" marL="0">
              <a:lnSpc>
                <a:spcPts val="945"/>
              </a:lnSpc>
              <a:buNone/>
            </a:pPr>
            <a:r>
              <a:rPr lang="en-US" sz="1050" dirty="0">
                <a:solidFill>
                  <a:srgbClr val="CBD5E1"/>
                </a:solidFill>
                <a:latin typeface="Segoe UI" pitchFamily="34" charset="0"/>
                <a:ea typeface="Segoe UI" pitchFamily="34" charset="-122"/>
                <a:cs typeface="Segoe UI" pitchFamily="34" charset="-120"/>
              </a:rPr>
              <a:t>Rent-Burdened HHs</a:t>
            </a:r>
            <a:endParaRPr lang="en-US" sz="1050" dirty="0"/>
          </a:p>
        </p:txBody>
      </p:sp>
      <p:sp>
        <p:nvSpPr>
          <p:cNvPr id="14" name="Text 12"/>
          <p:cNvSpPr/>
          <p:nvPr/>
        </p:nvSpPr>
        <p:spPr>
          <a:xfrm>
            <a:off x="773240" y="4791075"/>
            <a:ext cx="7597521" cy="381000"/>
          </a:xfrm>
          <a:prstGeom prst="rect">
            <a:avLst/>
          </a:prstGeom>
          <a:noFill/>
          <a:ln/>
        </p:spPr>
        <p:txBody>
          <a:bodyPr wrap="square" lIns="0" tIns="0" rIns="0" bIns="0" rtlCol="0" anchor="t"/>
          <a:lstStyle/>
          <a:p>
            <a:pPr algn="ctr" indent="0" marL="0">
              <a:lnSpc>
                <a:spcPts val="3000"/>
              </a:lnSpc>
              <a:buNone/>
            </a:pPr>
            <a:r>
              <a:rPr lang="en-US" sz="3000" b="1" dirty="0">
                <a:solidFill>
                  <a:srgbClr val="06B6D4"/>
                </a:solidFill>
                <a:latin typeface="Segoe UI" pitchFamily="34" charset="0"/>
                <a:ea typeface="Segoe UI" pitchFamily="34" charset="-122"/>
                <a:cs typeface="Segoe UI" pitchFamily="34" charset="-120"/>
              </a:rPr>
              <a:t>0%</a:t>
            </a:r>
            <a:endParaRPr lang="en-US" sz="3000" dirty="0"/>
          </a:p>
        </p:txBody>
      </p:sp>
      <p:sp>
        <p:nvSpPr>
          <p:cNvPr id="15" name="Text 13"/>
          <p:cNvSpPr/>
          <p:nvPr/>
        </p:nvSpPr>
        <p:spPr>
          <a:xfrm>
            <a:off x="773240" y="5248275"/>
            <a:ext cx="7597521" cy="152400"/>
          </a:xfrm>
          <a:prstGeom prst="rect">
            <a:avLst/>
          </a:prstGeom>
          <a:noFill/>
          <a:ln/>
        </p:spPr>
        <p:txBody>
          <a:bodyPr wrap="square" lIns="0" tIns="0" rIns="0" bIns="0" rtlCol="0" anchor="t"/>
          <a:lstStyle/>
          <a:p>
            <a:pPr algn="ctr" indent="0" marL="0">
              <a:lnSpc>
                <a:spcPts val="945"/>
              </a:lnSpc>
              <a:buNone/>
            </a:pPr>
            <a:r>
              <a:rPr lang="en-US" sz="1050" dirty="0">
                <a:solidFill>
                  <a:srgbClr val="CBD5E1"/>
                </a:solidFill>
                <a:latin typeface="Segoe UI" pitchFamily="34" charset="0"/>
                <a:ea typeface="Segoe UI" pitchFamily="34" charset="-122"/>
                <a:cs typeface="Segoe UI" pitchFamily="34" charset="-120"/>
              </a:rPr>
              <a:t>Equity Accrual Rate</a:t>
            </a:r>
            <a:endParaRPr lang="en-US" sz="1050" dirty="0"/>
          </a:p>
        </p:txBody>
      </p:sp>
      <p:sp>
        <p:nvSpPr>
          <p:cNvPr id="16" name="Text 14"/>
          <p:cNvSpPr/>
          <p:nvPr/>
        </p:nvSpPr>
        <p:spPr>
          <a:xfrm>
            <a:off x="876300" y="6172200"/>
            <a:ext cx="7578090" cy="166688"/>
          </a:xfrm>
          <a:prstGeom prst="rect">
            <a:avLst/>
          </a:prstGeom>
          <a:noFill/>
          <a:ln/>
        </p:spPr>
        <p:txBody>
          <a:bodyPr wrap="square" lIns="0" tIns="0" rIns="0" bIns="0" rtlCol="0" anchor="t"/>
          <a:lstStyle/>
          <a:p>
            <a:pPr indent="0" marL="0">
              <a:lnSpc>
                <a:spcPts val="1026"/>
              </a:lnSpc>
              <a:buNone/>
            </a:pPr>
            <a:r>
              <a:rPr lang="en-US" sz="1140" b="1" dirty="0">
                <a:solidFill>
                  <a:srgbClr val="06B6D4"/>
                </a:solidFill>
                <a:latin typeface="Segoe UI" pitchFamily="34" charset="0"/>
                <a:ea typeface="Segoe UI" pitchFamily="34" charset="-122"/>
                <a:cs typeface="Segoe UI" pitchFamily="34" charset="-120"/>
              </a:rPr>
              <a:t>Source:</a:t>
            </a:r>
            <a:pPr indent="0" marL="0">
              <a:lnSpc>
                <a:spcPts val="1026"/>
              </a:lnSpc>
              <a:buNone/>
            </a:pPr>
            <a:r>
              <a:rPr lang="en-US" sz="1140" dirty="0">
                <a:solidFill>
                  <a:srgbClr val="CBD5E1"/>
                </a:solidFill>
                <a:latin typeface="Segoe UI" pitchFamily="34" charset="0"/>
                <a:ea typeface="Segoe UI" pitchFamily="34" charset="-122"/>
                <a:cs typeface="Segoe UI" pitchFamily="34" charset="-120"/>
              </a:rPr>
              <a:t> NYU Furman Center, HRA, Department of Education, NYC Planning Department (2024-2025)</a:t>
            </a:r>
            <a:endParaRPr lang="en-US" sz="11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1447800"/>
            <a:ext cx="7924800" cy="2176016"/>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3" name="Text 1"/>
          <p:cNvSpPr/>
          <p:nvPr/>
        </p:nvSpPr>
        <p:spPr>
          <a:xfrm>
            <a:off x="609600" y="3623816"/>
            <a:ext cx="7924800" cy="2176016"/>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4" name="Text 2"/>
          <p:cNvSpPr/>
          <p:nvPr/>
        </p:nvSpPr>
        <p:spPr>
          <a:xfrm>
            <a:off x="609600" y="5799832"/>
            <a:ext cx="7924800" cy="2176016"/>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5" name="Text 3"/>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TCAP: Tenant Credit Accumulation Program</a:t>
            </a:r>
            <a:endParaRPr lang="en-US" sz="3000" dirty="0"/>
          </a:p>
        </p:txBody>
      </p:sp>
      <p:sp>
        <p:nvSpPr>
          <p:cNvPr id="6" name="Text 4"/>
          <p:cNvSpPr/>
          <p:nvPr/>
        </p:nvSpPr>
        <p:spPr>
          <a:xfrm>
            <a:off x="876300" y="1676400"/>
            <a:ext cx="7578090" cy="274290"/>
          </a:xfrm>
          <a:prstGeom prst="rect">
            <a:avLst/>
          </a:prstGeom>
          <a:noFill/>
          <a:ln/>
        </p:spPr>
        <p:txBody>
          <a:bodyPr wrap="square" lIns="0" tIns="0" rIns="0" bIns="0" rtlCol="0" anchor="t"/>
          <a:lstStyle/>
          <a:p>
            <a:pPr indent="0" marL="0">
              <a:lnSpc>
                <a:spcPts val="2160"/>
              </a:lnSpc>
              <a:buNone/>
            </a:pPr>
            <a:r>
              <a:rPr lang="en-US" sz="1800" b="1" dirty="0">
                <a:solidFill>
                  <a:srgbClr val="3B82F6"/>
                </a:solidFill>
                <a:latin typeface="Segoe UI" pitchFamily="34" charset="0"/>
                <a:ea typeface="Segoe UI" pitchFamily="34" charset="-122"/>
                <a:cs typeface="Segoe UI" pitchFamily="34" charset="-120"/>
              </a:rPr>
              <a:t>Year 1-5</a:t>
            </a:r>
            <a:endParaRPr lang="en-US" sz="1800" dirty="0"/>
          </a:p>
        </p:txBody>
      </p:sp>
      <p:sp>
        <p:nvSpPr>
          <p:cNvPr id="7" name="Text 5"/>
          <p:cNvSpPr/>
          <p:nvPr/>
        </p:nvSpPr>
        <p:spPr>
          <a:xfrm>
            <a:off x="1181100" y="2064990"/>
            <a:ext cx="7124700" cy="1330226"/>
          </a:xfrm>
          <a:prstGeom prst="rect">
            <a:avLst/>
          </a:prstGeom>
          <a:noFill/>
          <a:ln/>
        </p:spPr>
        <p:txBody>
          <a:bodyPr wrap="square" lIns="0" tIns="0" rIns="0" bIns="0" rtlCol="0" anchor="t"/>
          <a:lstStyle/>
          <a:p>
            <a:pPr marL="342900" indent="-342900">
              <a:lnSpc>
                <a:spcPts val="1944"/>
              </a:lnSpc>
              <a:buSzPct val="100000"/>
              <a:buChar char="•"/>
            </a:pPr>
            <a:r>
              <a:rPr lang="en-US" sz="1080" dirty="0">
                <a:solidFill>
                  <a:srgbClr val="CBD5E1"/>
                </a:solidFill>
                <a:latin typeface="Segoe UI" pitchFamily="34" charset="0"/>
                <a:ea typeface="Segoe UI" pitchFamily="34" charset="-122"/>
                <a:cs typeface="Segoe UI" pitchFamily="34" charset="-120"/>
              </a:rPr>
              <a:t>Monthly rent payment = 30% AMI</a:t>
            </a:r>
            <a:endParaRPr lang="en-US" sz="1080" dirty="0"/>
          </a:p>
          <a:p>
            <a:pPr marL="342900" indent="-342900">
              <a:lnSpc>
                <a:spcPts val="1944"/>
              </a:lnSpc>
              <a:buSzPct val="100000"/>
              <a:buChar char="•"/>
            </a:pPr>
            <a:r>
              <a:rPr lang="en-US" sz="1080" dirty="0">
                <a:solidFill>
                  <a:srgbClr val="CBD5E1"/>
                </a:solidFill>
                <a:latin typeface="Segoe UI" pitchFamily="34" charset="0"/>
                <a:ea typeface="Segoe UI" pitchFamily="34" charset="-122"/>
                <a:cs typeface="Segoe UI" pitchFamily="34" charset="-120"/>
              </a:rPr>
              <a:t>Subsidy converts to equity reserve</a:t>
            </a:r>
            <a:endParaRPr lang="en-US" sz="1080" dirty="0"/>
          </a:p>
          <a:p>
            <a:pPr marL="342900" indent="-342900">
              <a:lnSpc>
                <a:spcPts val="1944"/>
              </a:lnSpc>
              <a:buSzPct val="100000"/>
              <a:buChar char="•"/>
            </a:pPr>
            <a:r>
              <a:rPr lang="en-US" sz="1080" dirty="0">
                <a:solidFill>
                  <a:srgbClr val="CBD5E1"/>
                </a:solidFill>
                <a:latin typeface="Segoe UI" pitchFamily="34" charset="0"/>
                <a:ea typeface="Segoe UI" pitchFamily="34" charset="-122"/>
                <a:cs typeface="Segoe UI" pitchFamily="34" charset="-120"/>
              </a:rPr>
              <a:t>Credit building (credit union membership)</a:t>
            </a:r>
            <a:endParaRPr lang="en-US" sz="1080" dirty="0"/>
          </a:p>
          <a:p>
            <a:pPr marL="342900" indent="-342900">
              <a:lnSpc>
                <a:spcPts val="1944"/>
              </a:lnSpc>
              <a:buSzPct val="100000"/>
              <a:buChar char="•"/>
            </a:pPr>
            <a:r>
              <a:rPr lang="en-US" sz="1080" dirty="0">
                <a:solidFill>
                  <a:srgbClr val="CBD5E1"/>
                </a:solidFill>
                <a:latin typeface="Segoe UI" pitchFamily="34" charset="0"/>
                <a:ea typeface="Segoe UI" pitchFamily="34" charset="-122"/>
                <a:cs typeface="Segoe UI" pitchFamily="34" charset="-120"/>
              </a:rPr>
              <a:t>15% ownership stake accumulation</a:t>
            </a:r>
            <a:endParaRPr lang="en-US" sz="1080" dirty="0"/>
          </a:p>
        </p:txBody>
      </p:sp>
      <p:sp>
        <p:nvSpPr>
          <p:cNvPr id="8" name="Text 6"/>
          <p:cNvSpPr/>
          <p:nvPr/>
        </p:nvSpPr>
        <p:spPr>
          <a:xfrm>
            <a:off x="876300" y="3852416"/>
            <a:ext cx="7578090" cy="274290"/>
          </a:xfrm>
          <a:prstGeom prst="rect">
            <a:avLst/>
          </a:prstGeom>
          <a:noFill/>
          <a:ln/>
        </p:spPr>
        <p:txBody>
          <a:bodyPr wrap="square" lIns="0" tIns="0" rIns="0" bIns="0" rtlCol="0" anchor="t"/>
          <a:lstStyle/>
          <a:p>
            <a:pPr indent="0" marL="0">
              <a:lnSpc>
                <a:spcPts val="2160"/>
              </a:lnSpc>
              <a:buNone/>
            </a:pPr>
            <a:r>
              <a:rPr lang="en-US" sz="1800" b="1" dirty="0">
                <a:solidFill>
                  <a:srgbClr val="10B981"/>
                </a:solidFill>
                <a:latin typeface="Segoe UI" pitchFamily="34" charset="0"/>
                <a:ea typeface="Segoe UI" pitchFamily="34" charset="-122"/>
                <a:cs typeface="Segoe UI" pitchFamily="34" charset="-120"/>
              </a:rPr>
              <a:t>Year 6-10</a:t>
            </a:r>
            <a:endParaRPr lang="en-US" sz="1800" dirty="0"/>
          </a:p>
        </p:txBody>
      </p:sp>
      <p:sp>
        <p:nvSpPr>
          <p:cNvPr id="9" name="Text 7"/>
          <p:cNvSpPr/>
          <p:nvPr/>
        </p:nvSpPr>
        <p:spPr>
          <a:xfrm>
            <a:off x="1181100" y="4241006"/>
            <a:ext cx="7124700" cy="1330226"/>
          </a:xfrm>
          <a:prstGeom prst="rect">
            <a:avLst/>
          </a:prstGeom>
          <a:noFill/>
          <a:ln/>
        </p:spPr>
        <p:txBody>
          <a:bodyPr wrap="square" lIns="0" tIns="0" rIns="0" bIns="0" rtlCol="0" anchor="t"/>
          <a:lstStyle/>
          <a:p>
            <a:pPr marL="342900" indent="-342900">
              <a:lnSpc>
                <a:spcPts val="1944"/>
              </a:lnSpc>
              <a:buSzPct val="100000"/>
              <a:buChar char="•"/>
            </a:pPr>
            <a:r>
              <a:rPr lang="en-US" sz="1080" dirty="0">
                <a:solidFill>
                  <a:srgbClr val="CBD5E1"/>
                </a:solidFill>
                <a:latin typeface="Segoe UI" pitchFamily="34" charset="0"/>
                <a:ea typeface="Segoe UI" pitchFamily="34" charset="-122"/>
                <a:cs typeface="Segoe UI" pitchFamily="34" charset="-120"/>
              </a:rPr>
              <a:t>Option to purchase 25-40% stake</a:t>
            </a:r>
            <a:endParaRPr lang="en-US" sz="1080" dirty="0"/>
          </a:p>
          <a:p>
            <a:pPr marL="342900" indent="-342900">
              <a:lnSpc>
                <a:spcPts val="1944"/>
              </a:lnSpc>
              <a:buSzPct val="100000"/>
              <a:buChar char="•"/>
            </a:pPr>
            <a:r>
              <a:rPr lang="en-US" sz="1080" dirty="0">
                <a:solidFill>
                  <a:srgbClr val="CBD5E1"/>
                </a:solidFill>
                <a:latin typeface="Segoe UI" pitchFamily="34" charset="0"/>
                <a:ea typeface="Segoe UI" pitchFamily="34" charset="-122"/>
                <a:cs typeface="Segoe UI" pitchFamily="34" charset="-120"/>
              </a:rPr>
              <a:t>Mortgage rates: 1-2% (below market)</a:t>
            </a:r>
            <a:endParaRPr lang="en-US" sz="1080" dirty="0"/>
          </a:p>
          <a:p>
            <a:pPr marL="342900" indent="-342900">
              <a:lnSpc>
                <a:spcPts val="1944"/>
              </a:lnSpc>
              <a:buSzPct val="100000"/>
              <a:buChar char="•"/>
            </a:pPr>
            <a:r>
              <a:rPr lang="en-US" sz="1080" dirty="0">
                <a:solidFill>
                  <a:srgbClr val="CBD5E1"/>
                </a:solidFill>
                <a:latin typeface="Segoe UI" pitchFamily="34" charset="0"/>
                <a:ea typeface="Segoe UI" pitchFamily="34" charset="-122"/>
                <a:cs typeface="Segoe UI" pitchFamily="34" charset="-120"/>
              </a:rPr>
              <a:t>$50K-$80K equity accumulated</a:t>
            </a:r>
            <a:endParaRPr lang="en-US" sz="1080" dirty="0"/>
          </a:p>
          <a:p>
            <a:pPr marL="342900" indent="-342900">
              <a:lnSpc>
                <a:spcPts val="1944"/>
              </a:lnSpc>
              <a:buSzPct val="100000"/>
              <a:buChar char="•"/>
            </a:pPr>
            <a:r>
              <a:rPr lang="en-US" sz="1080" dirty="0">
                <a:solidFill>
                  <a:srgbClr val="CBD5E1"/>
                </a:solidFill>
                <a:latin typeface="Segoe UI" pitchFamily="34" charset="0"/>
                <a:ea typeface="Segoe UI" pitchFamily="34" charset="-122"/>
                <a:cs typeface="Segoe UI" pitchFamily="34" charset="-120"/>
              </a:rPr>
              <a:t>Refinance option at year 10</a:t>
            </a:r>
            <a:endParaRPr lang="en-US" sz="1080" dirty="0"/>
          </a:p>
        </p:txBody>
      </p:sp>
      <p:sp>
        <p:nvSpPr>
          <p:cNvPr id="10" name="Text 8"/>
          <p:cNvSpPr/>
          <p:nvPr/>
        </p:nvSpPr>
        <p:spPr>
          <a:xfrm>
            <a:off x="876300" y="6028432"/>
            <a:ext cx="7578090" cy="274290"/>
          </a:xfrm>
          <a:prstGeom prst="rect">
            <a:avLst/>
          </a:prstGeom>
          <a:noFill/>
          <a:ln/>
        </p:spPr>
        <p:txBody>
          <a:bodyPr wrap="square" lIns="0" tIns="0" rIns="0" bIns="0" rtlCol="0" anchor="t"/>
          <a:lstStyle/>
          <a:p>
            <a:pPr indent="0" marL="0">
              <a:lnSpc>
                <a:spcPts val="2160"/>
              </a:lnSpc>
              <a:buNone/>
            </a:pPr>
            <a:r>
              <a:rPr lang="en-US" sz="1800" b="1" dirty="0">
                <a:solidFill>
                  <a:srgbClr val="F59E0B"/>
                </a:solidFill>
                <a:latin typeface="Segoe UI" pitchFamily="34" charset="0"/>
                <a:ea typeface="Segoe UI" pitchFamily="34" charset="-122"/>
                <a:cs typeface="Segoe UI" pitchFamily="34" charset="-120"/>
              </a:rPr>
              <a:t>Year 11+</a:t>
            </a:r>
            <a:endParaRPr lang="en-US" sz="1800" dirty="0"/>
          </a:p>
        </p:txBody>
      </p:sp>
      <p:sp>
        <p:nvSpPr>
          <p:cNvPr id="11" name="Text 9"/>
          <p:cNvSpPr/>
          <p:nvPr/>
        </p:nvSpPr>
        <p:spPr>
          <a:xfrm>
            <a:off x="1181100" y="6417022"/>
            <a:ext cx="7124700" cy="1330226"/>
          </a:xfrm>
          <a:prstGeom prst="rect">
            <a:avLst/>
          </a:prstGeom>
          <a:noFill/>
          <a:ln/>
        </p:spPr>
        <p:txBody>
          <a:bodyPr wrap="square" lIns="0" tIns="0" rIns="0" bIns="0" rtlCol="0" anchor="t"/>
          <a:lstStyle/>
          <a:p>
            <a:pPr marL="342900" indent="-342900">
              <a:lnSpc>
                <a:spcPts val="1944"/>
              </a:lnSpc>
              <a:buSzPct val="100000"/>
              <a:buChar char="•"/>
            </a:pPr>
            <a:r>
              <a:rPr lang="en-US" sz="1080" dirty="0">
                <a:solidFill>
                  <a:srgbClr val="CBD5E1"/>
                </a:solidFill>
                <a:latin typeface="Segoe UI" pitchFamily="34" charset="0"/>
                <a:ea typeface="Segoe UI" pitchFamily="34" charset="-122"/>
                <a:cs typeface="Segoe UI" pitchFamily="34" charset="-120"/>
              </a:rPr>
              <a:t>Path to majority ownership (60%+)</a:t>
            </a:r>
            <a:endParaRPr lang="en-US" sz="1080" dirty="0"/>
          </a:p>
          <a:p>
            <a:pPr marL="342900" indent="-342900">
              <a:lnSpc>
                <a:spcPts val="1944"/>
              </a:lnSpc>
              <a:buSzPct val="100000"/>
              <a:buChar char="•"/>
            </a:pPr>
            <a:r>
              <a:rPr lang="en-US" sz="1080" dirty="0">
                <a:solidFill>
                  <a:srgbClr val="CBD5E1"/>
                </a:solidFill>
                <a:latin typeface="Segoe UI" pitchFamily="34" charset="0"/>
                <a:ea typeface="Segoe UI" pitchFamily="34" charset="-122"/>
                <a:cs typeface="Segoe UI" pitchFamily="34" charset="-120"/>
              </a:rPr>
              <a:t>Co-op governance participation</a:t>
            </a:r>
            <a:endParaRPr lang="en-US" sz="1080" dirty="0"/>
          </a:p>
          <a:p>
            <a:pPr marL="342900" indent="-342900">
              <a:lnSpc>
                <a:spcPts val="1944"/>
              </a:lnSpc>
              <a:buSzPct val="100000"/>
              <a:buChar char="•"/>
            </a:pPr>
            <a:r>
              <a:rPr lang="en-US" sz="1080" dirty="0">
                <a:solidFill>
                  <a:srgbClr val="CBD5E1"/>
                </a:solidFill>
                <a:latin typeface="Segoe UI" pitchFamily="34" charset="0"/>
                <a:ea typeface="Segoe UI" pitchFamily="34" charset="-122"/>
                <a:cs typeface="Segoe UI" pitchFamily="34" charset="-120"/>
              </a:rPr>
              <a:t>Intergenerational transfer eligible</a:t>
            </a:r>
            <a:endParaRPr lang="en-US" sz="1080" dirty="0"/>
          </a:p>
          <a:p>
            <a:pPr marL="342900" indent="-342900">
              <a:lnSpc>
                <a:spcPts val="1944"/>
              </a:lnSpc>
              <a:buSzPct val="100000"/>
              <a:buChar char="•"/>
            </a:pPr>
            <a:r>
              <a:rPr lang="en-US" sz="1080" dirty="0">
                <a:solidFill>
                  <a:srgbClr val="CBD5E1"/>
                </a:solidFill>
                <a:latin typeface="Segoe UI" pitchFamily="34" charset="0"/>
                <a:ea typeface="Segoe UI" pitchFamily="34" charset="-122"/>
                <a:cs typeface="Segoe UI" pitchFamily="34" charset="-120"/>
              </a:rPr>
              <a:t>$120K-$180K total equity</a:t>
            </a:r>
            <a:endParaRPr lang="en-US" sz="10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3381524"/>
            <a:ext cx="7924800" cy="457200"/>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3" name="Text 1"/>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Implementation: Governance Structure</a:t>
            </a:r>
            <a:endParaRPr lang="en-US" sz="3000" dirty="0"/>
          </a:p>
        </p:txBody>
      </p:sp>
      <p:sp>
        <p:nvSpPr>
          <p:cNvPr id="4" name="Text 2"/>
          <p:cNvSpPr/>
          <p:nvPr/>
        </p:nvSpPr>
        <p:spPr>
          <a:xfrm>
            <a:off x="609600" y="1447800"/>
            <a:ext cx="8083296" cy="182835"/>
          </a:xfrm>
          <a:prstGeom prst="rect">
            <a:avLst/>
          </a:prstGeom>
          <a:noFill/>
          <a:ln/>
        </p:spPr>
        <p:txBody>
          <a:bodyPr wrap="square" lIns="0" tIns="0" rIns="0" bIns="0" rtlCol="0" anchor="t"/>
          <a:lstStyle/>
          <a:p>
            <a:pPr indent="0" marL="0">
              <a:lnSpc>
                <a:spcPts val="1440"/>
              </a:lnSpc>
              <a:buNone/>
            </a:pPr>
            <a:r>
              <a:rPr lang="en-US" sz="1200" b="1" dirty="0">
                <a:solidFill>
                  <a:srgbClr val="06B6D4"/>
                </a:solidFill>
                <a:latin typeface="Segoe UI" pitchFamily="34" charset="0"/>
                <a:ea typeface="Segoe UI" pitchFamily="34" charset="-122"/>
                <a:cs typeface="Segoe UI" pitchFamily="34" charset="-120"/>
              </a:rPr>
              <a:t>Oversight</a:t>
            </a:r>
            <a:endParaRPr lang="en-US" sz="1200" dirty="0"/>
          </a:p>
        </p:txBody>
      </p:sp>
      <p:sp>
        <p:nvSpPr>
          <p:cNvPr id="5" name="Text 3"/>
          <p:cNvSpPr/>
          <p:nvPr/>
        </p:nvSpPr>
        <p:spPr>
          <a:xfrm>
            <a:off x="609600" y="1783035"/>
            <a:ext cx="8083296" cy="233139"/>
          </a:xfrm>
          <a:prstGeom prst="rect">
            <a:avLst/>
          </a:prstGeom>
          <a:noFill/>
          <a:ln/>
        </p:spPr>
        <p:txBody>
          <a:bodyPr wrap="square" lIns="0" tIns="0" rIns="0" bIns="0" rtlCol="0" anchor="t"/>
          <a:lstStyle/>
          <a:p>
            <a:pPr indent="0" marL="0">
              <a:lnSpc>
                <a:spcPts val="1836"/>
              </a:lnSpc>
              <a:buNone/>
            </a:pPr>
            <a:r>
              <a:rPr lang="en-US" sz="1080" b="1" dirty="0">
                <a:solidFill>
                  <a:srgbClr val="CBD5E1"/>
                </a:solidFill>
                <a:latin typeface="Segoe UI" pitchFamily="34" charset="0"/>
                <a:ea typeface="Segoe UI" pitchFamily="34" charset="-122"/>
                <a:cs typeface="Segoe UI" pitchFamily="34" charset="-120"/>
              </a:rPr>
              <a:t>HPD + HRA Steering Committee</a:t>
            </a:r>
            <a:pPr indent="0" marL="0">
              <a:lnSpc>
                <a:spcPts val="1836"/>
              </a:lnSpc>
              <a:buNone/>
            </a:pPr>
            <a:r>
              <a:rPr lang="en-US" sz="1080" dirty="0">
                <a:solidFill>
                  <a:srgbClr val="CBD5E1"/>
                </a:solidFill>
                <a:latin typeface="Segoe UI" pitchFamily="34" charset="0"/>
                <a:ea typeface="Segoe UI" pitchFamily="34" charset="-122"/>
                <a:cs typeface="Segoe UI" pitchFamily="34" charset="-120"/>
              </a:rPr>
              <a:t> with tenant reps, credit union leaders, legal counsel</a:t>
            </a:r>
            <a:endParaRPr lang="en-US" sz="1080" dirty="0"/>
          </a:p>
        </p:txBody>
      </p:sp>
      <p:sp>
        <p:nvSpPr>
          <p:cNvPr id="6" name="Text 4"/>
          <p:cNvSpPr/>
          <p:nvPr/>
        </p:nvSpPr>
        <p:spPr>
          <a:xfrm>
            <a:off x="609600" y="2016175"/>
            <a:ext cx="8083296" cy="182835"/>
          </a:xfrm>
          <a:prstGeom prst="rect">
            <a:avLst/>
          </a:prstGeom>
          <a:noFill/>
          <a:ln/>
        </p:spPr>
        <p:txBody>
          <a:bodyPr wrap="square" lIns="0" tIns="0" rIns="0" bIns="0" rtlCol="0" anchor="t"/>
          <a:lstStyle/>
          <a:p>
            <a:pPr indent="0" marL="0">
              <a:lnSpc>
                <a:spcPts val="1440"/>
              </a:lnSpc>
              <a:buNone/>
            </a:pPr>
            <a:r>
              <a:rPr lang="en-US" sz="1200" b="1" dirty="0">
                <a:solidFill>
                  <a:srgbClr val="06B6D4"/>
                </a:solidFill>
                <a:latin typeface="Segoe UI" pitchFamily="34" charset="0"/>
                <a:ea typeface="Segoe UI" pitchFamily="34" charset="-122"/>
                <a:cs typeface="Segoe UI" pitchFamily="34" charset="-120"/>
              </a:rPr>
              <a:t>Administration</a:t>
            </a:r>
            <a:endParaRPr lang="en-US" sz="1200" dirty="0"/>
          </a:p>
        </p:txBody>
      </p:sp>
      <p:sp>
        <p:nvSpPr>
          <p:cNvPr id="7" name="Text 5"/>
          <p:cNvSpPr/>
          <p:nvPr/>
        </p:nvSpPr>
        <p:spPr>
          <a:xfrm>
            <a:off x="609600" y="2351410"/>
            <a:ext cx="8083296" cy="233139"/>
          </a:xfrm>
          <a:prstGeom prst="rect">
            <a:avLst/>
          </a:prstGeom>
          <a:noFill/>
          <a:ln/>
        </p:spPr>
        <p:txBody>
          <a:bodyPr wrap="square" lIns="0" tIns="0" rIns="0" bIns="0" rtlCol="0" anchor="t"/>
          <a:lstStyle/>
          <a:p>
            <a:pPr indent="0" marL="0">
              <a:lnSpc>
                <a:spcPts val="1836"/>
              </a:lnSpc>
              <a:buNone/>
            </a:pPr>
            <a:r>
              <a:rPr lang="en-US" sz="1080" b="1" dirty="0">
                <a:solidFill>
                  <a:srgbClr val="CBD5E1"/>
                </a:solidFill>
                <a:latin typeface="Segoe UI" pitchFamily="34" charset="0"/>
                <a:ea typeface="Segoe UI" pitchFamily="34" charset="-122"/>
                <a:cs typeface="Segoe UI" pitchFamily="34" charset="-120"/>
              </a:rPr>
              <a:t>Member-owned credit unions</a:t>
            </a:r>
            <a:pPr indent="0" marL="0">
              <a:lnSpc>
                <a:spcPts val="1836"/>
              </a:lnSpc>
              <a:buNone/>
            </a:pPr>
            <a:r>
              <a:rPr lang="en-US" sz="1080" dirty="0">
                <a:solidFill>
                  <a:srgbClr val="CBD5E1"/>
                </a:solidFill>
                <a:latin typeface="Segoe UI" pitchFamily="34" charset="0"/>
                <a:ea typeface="Segoe UI" pitchFamily="34" charset="-122"/>
                <a:cs typeface="Segoe UI" pitchFamily="34" charset="-120"/>
              </a:rPr>
              <a:t> (e.g., Brightside, CUNA) manage liquidity, underwriting, servicing</a:t>
            </a:r>
            <a:endParaRPr lang="en-US" sz="1080" dirty="0"/>
          </a:p>
        </p:txBody>
      </p:sp>
      <p:sp>
        <p:nvSpPr>
          <p:cNvPr id="8" name="Text 6"/>
          <p:cNvSpPr/>
          <p:nvPr/>
        </p:nvSpPr>
        <p:spPr>
          <a:xfrm>
            <a:off x="609600" y="2584549"/>
            <a:ext cx="8083296" cy="182835"/>
          </a:xfrm>
          <a:prstGeom prst="rect">
            <a:avLst/>
          </a:prstGeom>
          <a:noFill/>
          <a:ln/>
        </p:spPr>
        <p:txBody>
          <a:bodyPr wrap="square" lIns="0" tIns="0" rIns="0" bIns="0" rtlCol="0" anchor="t"/>
          <a:lstStyle/>
          <a:p>
            <a:pPr indent="0" marL="0">
              <a:lnSpc>
                <a:spcPts val="1440"/>
              </a:lnSpc>
              <a:buNone/>
            </a:pPr>
            <a:r>
              <a:rPr lang="en-US" sz="1200" b="1" dirty="0">
                <a:solidFill>
                  <a:srgbClr val="06B6D4"/>
                </a:solidFill>
                <a:latin typeface="Segoe UI" pitchFamily="34" charset="0"/>
                <a:ea typeface="Segoe UI" pitchFamily="34" charset="-122"/>
                <a:cs typeface="Segoe UI" pitchFamily="34" charset="-120"/>
              </a:rPr>
              <a:t>Compliance</a:t>
            </a:r>
            <a:endParaRPr lang="en-US" sz="1200" dirty="0"/>
          </a:p>
        </p:txBody>
      </p:sp>
      <p:sp>
        <p:nvSpPr>
          <p:cNvPr id="9" name="Text 7"/>
          <p:cNvSpPr/>
          <p:nvPr/>
        </p:nvSpPr>
        <p:spPr>
          <a:xfrm>
            <a:off x="609600" y="2919785"/>
            <a:ext cx="8083296" cy="233139"/>
          </a:xfrm>
          <a:prstGeom prst="rect">
            <a:avLst/>
          </a:prstGeom>
          <a:noFill/>
          <a:ln/>
        </p:spPr>
        <p:txBody>
          <a:bodyPr wrap="square" lIns="0" tIns="0" rIns="0" bIns="0" rtlCol="0" anchor="t"/>
          <a:lstStyle/>
          <a:p>
            <a:pPr indent="0" marL="0">
              <a:lnSpc>
                <a:spcPts val="1836"/>
              </a:lnSpc>
              <a:buNone/>
            </a:pPr>
            <a:r>
              <a:rPr lang="en-US" sz="1080" b="1" dirty="0">
                <a:solidFill>
                  <a:srgbClr val="CBD5E1"/>
                </a:solidFill>
                <a:latin typeface="Segoe UI" pitchFamily="34" charset="0"/>
                <a:ea typeface="Segoe UI" pitchFamily="34" charset="-122"/>
                <a:cs typeface="Segoe UI" pitchFamily="34" charset="-120"/>
              </a:rPr>
              <a:t>Title VIII, ADA, 504</a:t>
            </a:r>
            <a:pPr indent="0" marL="0">
              <a:lnSpc>
                <a:spcPts val="1836"/>
              </a:lnSpc>
              <a:buNone/>
            </a:pPr>
            <a:r>
              <a:rPr lang="en-US" sz="1080" dirty="0">
                <a:solidFill>
                  <a:srgbClr val="CBD5E1"/>
                </a:solidFill>
                <a:latin typeface="Segoe UI" pitchFamily="34" charset="0"/>
                <a:ea typeface="Segoe UI" pitchFamily="34" charset="-122"/>
                <a:cs typeface="Segoe UI" pitchFamily="34" charset="-120"/>
              </a:rPr>
              <a:t> audit schedule; annual equity review for affordability lock</a:t>
            </a:r>
            <a:endParaRPr lang="en-US" sz="1080" dirty="0"/>
          </a:p>
        </p:txBody>
      </p:sp>
      <p:sp>
        <p:nvSpPr>
          <p:cNvPr id="10" name="Text 8"/>
          <p:cNvSpPr/>
          <p:nvPr/>
        </p:nvSpPr>
        <p:spPr>
          <a:xfrm>
            <a:off x="800100" y="3533924"/>
            <a:ext cx="7733538" cy="152400"/>
          </a:xfrm>
          <a:prstGeom prst="rect">
            <a:avLst/>
          </a:prstGeom>
          <a:noFill/>
          <a:ln/>
        </p:spPr>
        <p:txBody>
          <a:bodyPr wrap="square" lIns="0" tIns="0" rIns="0" bIns="0" rtlCol="0" anchor="t"/>
          <a:lstStyle/>
          <a:p>
            <a:pPr indent="0" marL="0">
              <a:lnSpc>
                <a:spcPts val="918"/>
              </a:lnSpc>
              <a:buNone/>
            </a:pPr>
            <a:r>
              <a:rPr lang="en-US" sz="1020" b="1" dirty="0">
                <a:solidFill>
                  <a:srgbClr val="10B981"/>
                </a:solidFill>
                <a:latin typeface="Segoe UI" pitchFamily="34" charset="0"/>
                <a:ea typeface="Segoe UI" pitchFamily="34" charset="-122"/>
                <a:cs typeface="Segoe UI" pitchFamily="34" charset="-120"/>
              </a:rPr>
              <a:t>Staffing:</a:t>
            </a:r>
            <a:pPr indent="0" marL="0">
              <a:lnSpc>
                <a:spcPts val="918"/>
              </a:lnSpc>
              <a:buNone/>
            </a:pPr>
            <a:r>
              <a:rPr lang="en-US" sz="1020" dirty="0">
                <a:solidFill>
                  <a:srgbClr val="CBD5E1"/>
                </a:solidFill>
                <a:latin typeface="Segoe UI" pitchFamily="34" charset="0"/>
                <a:ea typeface="Segoe UI" pitchFamily="34" charset="-122"/>
                <a:cs typeface="Segoe UI" pitchFamily="34" charset="-120"/>
              </a:rPr>
              <a:t> 15 FTE within existing HPD/HRA budget; training funded by federal CDBGs (1st two years)</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9600" y="1828800"/>
          <a:ext cx="7924800" cy="1962150"/>
        </p:xfrm>
        <a:graphic>
          <a:graphicData uri="http://schemas.openxmlformats.org/drawingml/2006/table">
            <a:tbl>
              <a:tblPr/>
              <a:tblGrid>
                <a:gridCol w="1584960"/>
                <a:gridCol w="1584960"/>
                <a:gridCol w="1584960"/>
                <a:gridCol w="1584960"/>
                <a:gridCol w="1584960"/>
              </a:tblGrid>
              <a:tr h="392430">
                <a:tc>
                  <a:txBody>
                    <a:bodyPr/>
                    <a:lstStyle/>
                    <a:p>
                      <a:pPr algn="l" indent="0" marL="0">
                        <a:buNone/>
                      </a:pPr>
                      <a:r>
                        <a:rPr lang="en-US" sz="1050" b="1" dirty="0">
                          <a:solidFill>
                            <a:srgbClr val="06B6D4"/>
                          </a:solidFill>
                          <a:latin typeface="Segoe UI" pitchFamily="34" charset="0"/>
                          <a:ea typeface="Segoe UI" pitchFamily="34" charset="-122"/>
                          <a:cs typeface="Segoe UI" pitchFamily="34" charset="-120"/>
                        </a:rPr>
                        <a:t>Year</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050" b="1" dirty="0">
                          <a:solidFill>
                            <a:srgbClr val="06B6D4"/>
                          </a:solidFill>
                          <a:latin typeface="Segoe UI" pitchFamily="34" charset="0"/>
                          <a:ea typeface="Segoe UI" pitchFamily="34" charset="-122"/>
                          <a:cs typeface="Segoe UI" pitchFamily="34" charset="-120"/>
                        </a:rPr>
                        <a:t>Households Enrolled</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050" b="1" dirty="0">
                          <a:solidFill>
                            <a:srgbClr val="06B6D4"/>
                          </a:solidFill>
                          <a:latin typeface="Segoe UI" pitchFamily="34" charset="0"/>
                          <a:ea typeface="Segoe UI" pitchFamily="34" charset="-122"/>
                          <a:cs typeface="Segoe UI" pitchFamily="34" charset="-120"/>
                        </a:rPr>
                        <a:t>Annual Subsidy Cost</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050" b="1" dirty="0">
                          <a:solidFill>
                            <a:srgbClr val="06B6D4"/>
                          </a:solidFill>
                          <a:latin typeface="Segoe UI" pitchFamily="34" charset="0"/>
                          <a:ea typeface="Segoe UI" pitchFamily="34" charset="-122"/>
                          <a:cs typeface="Segoe UI" pitchFamily="34" charset="-120"/>
                        </a:rPr>
                        <a:t>Equity Accrued (Total)</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050" b="1" dirty="0">
                          <a:solidFill>
                            <a:srgbClr val="06B6D4"/>
                          </a:solidFill>
                          <a:latin typeface="Segoe UI" pitchFamily="34" charset="0"/>
                          <a:ea typeface="Segoe UI" pitchFamily="34" charset="-122"/>
                          <a:cs typeface="Segoe UI" pitchFamily="34" charset="-120"/>
                        </a:rPr>
                        <a:t>Program Surplus/(Deficit)</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r>
              <a:tr h="392430">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1</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10K</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$81M</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$150M</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-$45M (setup)</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r>
              <a:tr h="392430">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3</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30K</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$244M</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$1.2B</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+$120M</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r>
              <a:tr h="392430">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5</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50K</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$407M</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$2.8B</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+$380M</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r>
              <a:tr h="392430">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10</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100K</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$812M</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$7.2B</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CBD5E1"/>
                          </a:solidFill>
                          <a:latin typeface="Segoe UI" pitchFamily="34" charset="0"/>
                          <a:ea typeface="Segoe UI" pitchFamily="34" charset="-122"/>
                          <a:cs typeface="Segoe UI" pitchFamily="34" charset="-120"/>
                        </a:rPr>
                        <a:t>+$2.1B (reinvestment)</a:t>
                      </a:r>
                      <a:endParaRPr lang="en-US" sz="105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r>
            </a:tbl>
          </a:graphicData>
        </a:graphic>
      </p:graphicFrame>
      <p:sp>
        <p:nvSpPr>
          <p:cNvPr id="3" name="Text 0"/>
          <p:cNvSpPr/>
          <p:nvPr/>
        </p:nvSpPr>
        <p:spPr>
          <a:xfrm>
            <a:off x="609600" y="609600"/>
            <a:ext cx="7924800" cy="9144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10-Year Financial Projection (100K households)</a:t>
            </a:r>
            <a:endParaRPr lang="en-US" sz="3000" dirty="0"/>
          </a:p>
        </p:txBody>
      </p:sp>
      <p:sp>
        <p:nvSpPr>
          <p:cNvPr id="4" name="Text 1"/>
          <p:cNvSpPr/>
          <p:nvPr/>
        </p:nvSpPr>
        <p:spPr>
          <a:xfrm>
            <a:off x="609600" y="3943350"/>
            <a:ext cx="8083296" cy="138113"/>
          </a:xfrm>
          <a:prstGeom prst="rect">
            <a:avLst/>
          </a:prstGeom>
          <a:noFill/>
          <a:ln/>
        </p:spPr>
        <p:txBody>
          <a:bodyPr wrap="square" lIns="0" tIns="0" rIns="0" bIns="0" rtlCol="0" anchor="t"/>
          <a:lstStyle/>
          <a:p>
            <a:pPr indent="0" marL="0">
              <a:lnSpc>
                <a:spcPts val="864"/>
              </a:lnSpc>
              <a:buNone/>
            </a:pPr>
            <a:r>
              <a:rPr lang="en-US" sz="960" b="1" dirty="0">
                <a:solidFill>
                  <a:srgbClr val="94A3B8"/>
                </a:solidFill>
                <a:latin typeface="Segoe UI" pitchFamily="34" charset="0"/>
                <a:ea typeface="Segoe UI" pitchFamily="34" charset="-122"/>
                <a:cs typeface="Segoe UI" pitchFamily="34" charset="-120"/>
              </a:rPr>
              <a:t>Note:</a:t>
            </a:r>
            <a:pPr indent="0" marL="0">
              <a:lnSpc>
                <a:spcPts val="864"/>
              </a:lnSpc>
              <a:buNone/>
            </a:pPr>
            <a:r>
              <a:rPr lang="en-US" sz="960" dirty="0">
                <a:solidFill>
                  <a:srgbClr val="94A3B8"/>
                </a:solidFill>
                <a:latin typeface="Segoe UI" pitchFamily="34" charset="0"/>
                <a:ea typeface="Segoe UI" pitchFamily="34" charset="-122"/>
                <a:cs typeface="Segoe UI" pitchFamily="34" charset="-120"/>
              </a:rPr>
              <a:t> Assumes 50% uptake rate, 6% annual equity growth, credit union participation at cost.</a:t>
            </a:r>
            <a:endParaRPr lang="en-US" sz="9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1295400"/>
            <a:ext cx="7924800" cy="1728118"/>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3" name="Text 1"/>
          <p:cNvSpPr/>
          <p:nvPr/>
        </p:nvSpPr>
        <p:spPr>
          <a:xfrm>
            <a:off x="609600" y="3023518"/>
            <a:ext cx="7924800" cy="1571625"/>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4" name="Text 2"/>
          <p:cNvSpPr/>
          <p:nvPr/>
        </p:nvSpPr>
        <p:spPr>
          <a:xfrm>
            <a:off x="609600" y="4823743"/>
            <a:ext cx="7924800" cy="914995"/>
          </a:xfrm>
          <a:prstGeom prst="rect">
            <a:avLst/>
          </a:prstGeom>
          <a:solidFill>
            <a:srgbClr val="1E293B"/>
          </a:solidFill>
          <a:ln w="9525">
            <a:solidFill>
              <a:srgbClr val="334155"/>
            </a:solidFill>
          </a:ln>
        </p:spPr>
        <p:txBody>
          <a:bodyPr wrap="none" lIns="0" tIns="0" rIns="0" bIns="0" rtlCol="0" anchor="ctr">
            <a:normAutofit/>
          </a:bodyPr>
          <a:lstStyle/>
          <a:p>
            <a:pPr indent="0" marL="0">
              <a:buNone/>
            </a:pPr>
            <a:endParaRPr lang="en-US" dirty="0"/>
          </a:p>
        </p:txBody>
      </p:sp>
      <p:sp>
        <p:nvSpPr>
          <p:cNvPr id="5" name="Text 3"/>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Equity &amp; Intergenerational Wealth</a:t>
            </a:r>
            <a:endParaRPr lang="en-US" sz="3000" dirty="0"/>
          </a:p>
        </p:txBody>
      </p:sp>
      <p:sp>
        <p:nvSpPr>
          <p:cNvPr id="6" name="Text 4"/>
          <p:cNvSpPr/>
          <p:nvPr/>
        </p:nvSpPr>
        <p:spPr>
          <a:xfrm>
            <a:off x="876300" y="1524000"/>
            <a:ext cx="7578090" cy="228600"/>
          </a:xfrm>
          <a:prstGeom prst="rect">
            <a:avLst/>
          </a:prstGeom>
          <a:noFill/>
          <a:ln/>
        </p:spPr>
        <p:txBody>
          <a:bodyPr wrap="square" lIns="0" tIns="0" rIns="0" bIns="0" rtlCol="0" anchor="t"/>
          <a:lstStyle/>
          <a:p>
            <a:pPr indent="0" marL="0">
              <a:lnSpc>
                <a:spcPts val="1800"/>
              </a:lnSpc>
              <a:buNone/>
            </a:pPr>
            <a:r>
              <a:rPr lang="en-US" sz="1500" b="1" dirty="0">
                <a:solidFill>
                  <a:srgbClr val="10B981"/>
                </a:solidFill>
                <a:latin typeface="Segoe UI" pitchFamily="34" charset="0"/>
                <a:ea typeface="Segoe UI" pitchFamily="34" charset="-122"/>
                <a:cs typeface="Segoe UI" pitchFamily="34" charset="-120"/>
              </a:rPr>
              <a:t>Disaggregated by Income</a:t>
            </a:r>
            <a:endParaRPr lang="en-US" sz="1500" dirty="0"/>
          </a:p>
        </p:txBody>
      </p:sp>
      <p:sp>
        <p:nvSpPr>
          <p:cNvPr id="7" name="Text 5"/>
          <p:cNvSpPr/>
          <p:nvPr/>
        </p:nvSpPr>
        <p:spPr>
          <a:xfrm>
            <a:off x="1181100" y="1866900"/>
            <a:ext cx="7124700" cy="928018"/>
          </a:xfrm>
          <a:prstGeom prst="rect">
            <a:avLst/>
          </a:prstGeom>
          <a:noFill/>
          <a:ln/>
        </p:spPr>
        <p:txBody>
          <a:bodyPr wrap="square" lIns="0" tIns="0" rIns="0" bIns="0" rtlCol="0" anchor="t"/>
          <a:lstStyle/>
          <a:p>
            <a:pPr marL="342900" indent="-342900">
              <a:lnSpc>
                <a:spcPts val="1836"/>
              </a:lnSpc>
              <a:buSzPct val="100000"/>
              <a:buChar char="•"/>
            </a:pPr>
            <a:r>
              <a:rPr lang="en-US" sz="1020" b="1" dirty="0">
                <a:solidFill>
                  <a:srgbClr val="CBD5E1"/>
                </a:solidFill>
                <a:latin typeface="Segoe UI" pitchFamily="34" charset="0"/>
                <a:ea typeface="Segoe UI" pitchFamily="34" charset="-122"/>
                <a:cs typeface="Segoe UI" pitchFamily="34" charset="-120"/>
              </a:rPr>
              <a:t>0-30% AMI:</a:t>
            </a:r>
            <a:pPr indent="0" marL="0">
              <a:lnSpc>
                <a:spcPts val="1836"/>
              </a:lnSpc>
              <a:buNone/>
            </a:pPr>
            <a:r>
              <a:rPr lang="en-US" sz="1020" dirty="0">
                <a:solidFill>
                  <a:srgbClr val="CBD5E1"/>
                </a:solidFill>
                <a:latin typeface="Segoe UI" pitchFamily="34" charset="0"/>
                <a:ea typeface="Segoe UI" pitchFamily="34" charset="-122"/>
                <a:cs typeface="Segoe UI" pitchFamily="34" charset="-120"/>
              </a:rPr>
              <a:t> 100% enrollment priority</a:t>
            </a:r>
            <a:endParaRPr lang="en-US" sz="1020" dirty="0"/>
          </a:p>
          <a:p>
            <a:pPr marL="342900" indent="-342900">
              <a:lnSpc>
                <a:spcPts val="1836"/>
              </a:lnSpc>
              <a:buSzPct val="100000"/>
              <a:buChar char="•"/>
            </a:pPr>
            <a:r>
              <a:rPr lang="en-US" sz="1020" b="1" dirty="0">
                <a:solidFill>
                  <a:srgbClr val="CBD5E1"/>
                </a:solidFill>
                <a:latin typeface="Segoe UI" pitchFamily="34" charset="0"/>
                <a:ea typeface="Segoe UI" pitchFamily="34" charset="-122"/>
                <a:cs typeface="Segoe UI" pitchFamily="34" charset="-120"/>
              </a:rPr>
              <a:t>30-60% AMI:</a:t>
            </a:r>
            <a:pPr indent="0" marL="0">
              <a:lnSpc>
                <a:spcPts val="1836"/>
              </a:lnSpc>
              <a:buNone/>
            </a:pPr>
            <a:r>
              <a:rPr lang="en-US" sz="1020" dirty="0">
                <a:solidFill>
                  <a:srgbClr val="CBD5E1"/>
                </a:solidFill>
                <a:latin typeface="Segoe UI" pitchFamily="34" charset="0"/>
                <a:ea typeface="Segoe UI" pitchFamily="34" charset="-122"/>
                <a:cs typeface="Segoe UI" pitchFamily="34" charset="-120"/>
              </a:rPr>
              <a:t> Graduated subsidy phase-out</a:t>
            </a:r>
            <a:endParaRPr lang="en-US" sz="1020" dirty="0"/>
          </a:p>
          <a:p>
            <a:pPr marL="342900" indent="-342900">
              <a:lnSpc>
                <a:spcPts val="1836"/>
              </a:lnSpc>
              <a:buSzPct val="100000"/>
              <a:buChar char="•"/>
            </a:pPr>
            <a:r>
              <a:rPr lang="en-US" sz="1020" b="1" dirty="0">
                <a:solidFill>
                  <a:srgbClr val="CBD5E1"/>
                </a:solidFill>
                <a:latin typeface="Segoe UI" pitchFamily="34" charset="0"/>
                <a:ea typeface="Segoe UI" pitchFamily="34" charset="-122"/>
                <a:cs typeface="Segoe UI" pitchFamily="34" charset="-120"/>
              </a:rPr>
              <a:t>Targeting:</a:t>
            </a:r>
            <a:pPr indent="0" marL="0">
              <a:lnSpc>
                <a:spcPts val="1836"/>
              </a:lnSpc>
              <a:buNone/>
            </a:pPr>
            <a:r>
              <a:rPr lang="en-US" sz="1020" dirty="0">
                <a:solidFill>
                  <a:srgbClr val="CBD5E1"/>
                </a:solidFill>
                <a:latin typeface="Segoe UI" pitchFamily="34" charset="0"/>
                <a:ea typeface="Segoe UI" pitchFamily="34" charset="-122"/>
                <a:cs typeface="Segoe UI" pitchFamily="34" charset="-120"/>
              </a:rPr>
              <a:t> Black, Latino, immigrant households (60%+ of enrollment)</a:t>
            </a:r>
            <a:endParaRPr lang="en-US" sz="1020" dirty="0"/>
          </a:p>
        </p:txBody>
      </p:sp>
      <p:sp>
        <p:nvSpPr>
          <p:cNvPr id="8" name="Text 6"/>
          <p:cNvSpPr/>
          <p:nvPr/>
        </p:nvSpPr>
        <p:spPr>
          <a:xfrm>
            <a:off x="876300" y="3252118"/>
            <a:ext cx="7578090" cy="228600"/>
          </a:xfrm>
          <a:prstGeom prst="rect">
            <a:avLst/>
          </a:prstGeom>
          <a:noFill/>
          <a:ln/>
        </p:spPr>
        <p:txBody>
          <a:bodyPr wrap="square" lIns="0" tIns="0" rIns="0" bIns="0" rtlCol="0" anchor="t"/>
          <a:lstStyle/>
          <a:p>
            <a:pPr indent="0" marL="0">
              <a:lnSpc>
                <a:spcPts val="1800"/>
              </a:lnSpc>
              <a:buNone/>
            </a:pPr>
            <a:r>
              <a:rPr lang="en-US" sz="1500" b="1" dirty="0">
                <a:solidFill>
                  <a:srgbClr val="F59E0B"/>
                </a:solidFill>
                <a:latin typeface="Segoe UI" pitchFamily="34" charset="0"/>
                <a:ea typeface="Segoe UI" pitchFamily="34" charset="-122"/>
                <a:cs typeface="Segoe UI" pitchFamily="34" charset="-120"/>
              </a:rPr>
              <a:t>Wealth Accumulation (30-Year Horizon)</a:t>
            </a:r>
            <a:endParaRPr lang="en-US" sz="1500" dirty="0"/>
          </a:p>
        </p:txBody>
      </p:sp>
      <p:sp>
        <p:nvSpPr>
          <p:cNvPr id="9" name="Text 7"/>
          <p:cNvSpPr/>
          <p:nvPr/>
        </p:nvSpPr>
        <p:spPr>
          <a:xfrm>
            <a:off x="876300" y="3633118"/>
            <a:ext cx="7578090" cy="166688"/>
          </a:xfrm>
          <a:prstGeom prst="rect">
            <a:avLst/>
          </a:prstGeom>
          <a:noFill/>
          <a:ln/>
        </p:spPr>
        <p:txBody>
          <a:bodyPr wrap="square" lIns="0" tIns="0" rIns="0" bIns="0" rtlCol="0" anchor="t"/>
          <a:lstStyle/>
          <a:p>
            <a:pPr indent="0" marL="0">
              <a:lnSpc>
                <a:spcPts val="1026"/>
              </a:lnSpc>
              <a:buNone/>
            </a:pPr>
            <a:r>
              <a:rPr lang="en-US" sz="1140" dirty="0">
                <a:solidFill>
                  <a:srgbClr val="CBD5E1"/>
                </a:solidFill>
                <a:latin typeface="Segoe UI" pitchFamily="34" charset="0"/>
                <a:ea typeface="Segoe UI" pitchFamily="34" charset="-122"/>
                <a:cs typeface="Segoe UI" pitchFamily="34" charset="-120"/>
              </a:rPr>
              <a:t>Per household:</a:t>
            </a:r>
            <a:endParaRPr lang="en-US" sz="1140" dirty="0"/>
          </a:p>
        </p:txBody>
      </p:sp>
      <p:sp>
        <p:nvSpPr>
          <p:cNvPr id="10" name="Text 8"/>
          <p:cNvSpPr/>
          <p:nvPr/>
        </p:nvSpPr>
        <p:spPr>
          <a:xfrm>
            <a:off x="876300" y="3876005"/>
            <a:ext cx="7578090" cy="261937"/>
          </a:xfrm>
          <a:prstGeom prst="rect">
            <a:avLst/>
          </a:prstGeom>
          <a:noFill/>
          <a:ln/>
        </p:spPr>
        <p:txBody>
          <a:bodyPr wrap="square" lIns="0" tIns="0" rIns="0" bIns="0" rtlCol="0" anchor="t"/>
          <a:lstStyle/>
          <a:p>
            <a:pPr indent="0" marL="0">
              <a:lnSpc>
                <a:spcPts val="1620"/>
              </a:lnSpc>
              <a:buNone/>
            </a:pPr>
            <a:r>
              <a:rPr lang="en-US" sz="1800" b="1" dirty="0">
                <a:solidFill>
                  <a:srgbClr val="F59E0B"/>
                </a:solidFill>
                <a:latin typeface="Segoe UI" pitchFamily="34" charset="0"/>
                <a:ea typeface="Segoe UI" pitchFamily="34" charset="-122"/>
                <a:cs typeface="Segoe UI" pitchFamily="34" charset="-120"/>
              </a:rPr>
              <a:t>$600K+ net equity</a:t>
            </a:r>
            <a:endParaRPr lang="en-US" sz="1800" dirty="0"/>
          </a:p>
        </p:txBody>
      </p:sp>
      <p:sp>
        <p:nvSpPr>
          <p:cNvPr id="11" name="Text 9"/>
          <p:cNvSpPr/>
          <p:nvPr/>
        </p:nvSpPr>
        <p:spPr>
          <a:xfrm>
            <a:off x="876300" y="4214143"/>
            <a:ext cx="7578090" cy="152400"/>
          </a:xfrm>
          <a:prstGeom prst="rect">
            <a:avLst/>
          </a:prstGeom>
          <a:noFill/>
          <a:ln/>
        </p:spPr>
        <p:txBody>
          <a:bodyPr wrap="square" lIns="0" tIns="0" rIns="0" bIns="0" rtlCol="0" anchor="t"/>
          <a:lstStyle/>
          <a:p>
            <a:pPr indent="0" marL="0">
              <a:lnSpc>
                <a:spcPts val="918"/>
              </a:lnSpc>
              <a:buNone/>
            </a:pPr>
            <a:r>
              <a:rPr lang="en-US" sz="1020" dirty="0">
                <a:solidFill>
                  <a:srgbClr val="CBD5E1"/>
                </a:solidFill>
                <a:latin typeface="Segoe UI" pitchFamily="34" charset="0"/>
                <a:ea typeface="Segoe UI" pitchFamily="34" charset="-122"/>
                <a:cs typeface="Segoe UI" pitchFamily="34" charset="-120"/>
              </a:rPr>
              <a:t>+ intergenerational transfer rights</a:t>
            </a:r>
            <a:endParaRPr lang="en-US" sz="1020" dirty="0"/>
          </a:p>
        </p:txBody>
      </p:sp>
      <p:sp>
        <p:nvSpPr>
          <p:cNvPr id="12" name="Text 10"/>
          <p:cNvSpPr/>
          <p:nvPr/>
        </p:nvSpPr>
        <p:spPr>
          <a:xfrm>
            <a:off x="847725" y="5061868"/>
            <a:ext cx="7448550" cy="438745"/>
          </a:xfrm>
          <a:prstGeom prst="rect">
            <a:avLst/>
          </a:prstGeom>
          <a:noFill/>
          <a:ln/>
        </p:spPr>
        <p:txBody>
          <a:bodyPr wrap="square" lIns="0" tIns="0" rIns="0" bIns="0" rtlCol="0" anchor="t"/>
          <a:lstStyle/>
          <a:p>
            <a:pPr indent="0" marL="0">
              <a:lnSpc>
                <a:spcPts val="1728"/>
              </a:lnSpc>
              <a:buNone/>
            </a:pPr>
            <a:r>
              <a:rPr lang="en-US" sz="1080" b="1" dirty="0">
                <a:solidFill>
                  <a:srgbClr val="10B981"/>
                </a:solidFill>
                <a:latin typeface="Segoe UI" pitchFamily="34" charset="0"/>
                <a:ea typeface="Segoe UI" pitchFamily="34" charset="-122"/>
                <a:cs typeface="Segoe UI" pitchFamily="34" charset="-120"/>
              </a:rPr>
              <a:t>Closing the racial wealth gap:</a:t>
            </a:r>
            <a:pPr indent="0" marL="0">
              <a:lnSpc>
                <a:spcPts val="1728"/>
              </a:lnSpc>
              <a:buNone/>
            </a:pPr>
            <a:r>
              <a:rPr lang="en-US" sz="1080" dirty="0">
                <a:solidFill>
                  <a:srgbClr val="CBD5E1"/>
                </a:solidFill>
                <a:latin typeface="Segoe UI" pitchFamily="34" charset="0"/>
                <a:ea typeface="Segoe UI" pitchFamily="34" charset="-122"/>
                <a:cs typeface="Segoe UI" pitchFamily="34" charset="-120"/>
              </a:rPr>
              <a:t> 30-year program closes estimated $180K-$280K median wealth gap between white and Black NYC homeowners through systematic equity accrual.</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1447800"/>
            <a:ext cx="7924800" cy="766763"/>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3" name="Text 1"/>
          <p:cNvSpPr/>
          <p:nvPr/>
        </p:nvSpPr>
        <p:spPr>
          <a:xfrm>
            <a:off x="609600" y="2214563"/>
            <a:ext cx="7924800" cy="766763"/>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4" name="Text 2"/>
          <p:cNvSpPr/>
          <p:nvPr/>
        </p:nvSpPr>
        <p:spPr>
          <a:xfrm>
            <a:off x="609600" y="2981325"/>
            <a:ext cx="7924800" cy="766763"/>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5" name="Text 3"/>
          <p:cNvSpPr/>
          <p:nvPr/>
        </p:nvSpPr>
        <p:spPr>
          <a:xfrm>
            <a:off x="609600" y="3900488"/>
            <a:ext cx="7924800" cy="762000"/>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6" name="Text 4"/>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Legal Feasibility: Compliance Framework</a:t>
            </a:r>
            <a:endParaRPr lang="en-US" sz="3000" dirty="0"/>
          </a:p>
        </p:txBody>
      </p:sp>
      <p:sp>
        <p:nvSpPr>
          <p:cNvPr id="7" name="Text 5"/>
          <p:cNvSpPr/>
          <p:nvPr/>
        </p:nvSpPr>
        <p:spPr>
          <a:xfrm>
            <a:off x="800100" y="1600200"/>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3B82F6"/>
                </a:solidFill>
                <a:latin typeface="Segoe UI" pitchFamily="34" charset="0"/>
                <a:ea typeface="Segoe UI" pitchFamily="34" charset="-122"/>
                <a:cs typeface="Segoe UI" pitchFamily="34" charset="-120"/>
              </a:rPr>
              <a:t>Title VIII (Fair Housing)</a:t>
            </a:r>
            <a:endParaRPr lang="en-US" sz="1500" dirty="0"/>
          </a:p>
        </p:txBody>
      </p:sp>
      <p:sp>
        <p:nvSpPr>
          <p:cNvPr id="8" name="Text 6"/>
          <p:cNvSpPr/>
          <p:nvPr/>
        </p:nvSpPr>
        <p:spPr>
          <a:xfrm>
            <a:off x="800100" y="1905000"/>
            <a:ext cx="7733538" cy="157163"/>
          </a:xfrm>
          <a:prstGeom prst="rect">
            <a:avLst/>
          </a:prstGeom>
          <a:noFill/>
          <a:ln/>
        </p:spPr>
        <p:txBody>
          <a:bodyPr wrap="square" lIns="0" tIns="0" rIns="0" bIns="0" rtlCol="0" anchor="t"/>
          <a:lstStyle/>
          <a:p>
            <a:pPr indent="0" marL="0">
              <a:lnSpc>
                <a:spcPts val="918"/>
              </a:lnSpc>
              <a:buNone/>
            </a:pPr>
            <a:r>
              <a:rPr lang="en-US" sz="1020" dirty="0">
                <a:solidFill>
                  <a:srgbClr val="CBD5E1"/>
                </a:solidFill>
                <a:latin typeface="Segoe UI" pitchFamily="34" charset="0"/>
                <a:ea typeface="Segoe UI" pitchFamily="34" charset="-122"/>
                <a:cs typeface="Segoe UI" pitchFamily="34" charset="-120"/>
              </a:rPr>
              <a:t>✓ Affirmative action through targeted enrollment; disparate impact analysis conducted annually</a:t>
            </a:r>
            <a:endParaRPr lang="en-US" sz="1020" dirty="0"/>
          </a:p>
        </p:txBody>
      </p:sp>
      <p:sp>
        <p:nvSpPr>
          <p:cNvPr id="9" name="Text 7"/>
          <p:cNvSpPr/>
          <p:nvPr/>
        </p:nvSpPr>
        <p:spPr>
          <a:xfrm>
            <a:off x="800100" y="2366963"/>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3B82F6"/>
                </a:solidFill>
                <a:latin typeface="Segoe UI" pitchFamily="34" charset="0"/>
                <a:ea typeface="Segoe UI" pitchFamily="34" charset="-122"/>
                <a:cs typeface="Segoe UI" pitchFamily="34" charset="-120"/>
              </a:rPr>
              <a:t>ADA/Section 504</a:t>
            </a:r>
            <a:endParaRPr lang="en-US" sz="1500" dirty="0"/>
          </a:p>
        </p:txBody>
      </p:sp>
      <p:sp>
        <p:nvSpPr>
          <p:cNvPr id="10" name="Text 8"/>
          <p:cNvSpPr/>
          <p:nvPr/>
        </p:nvSpPr>
        <p:spPr>
          <a:xfrm>
            <a:off x="800100" y="2671763"/>
            <a:ext cx="7733538" cy="157163"/>
          </a:xfrm>
          <a:prstGeom prst="rect">
            <a:avLst/>
          </a:prstGeom>
          <a:noFill/>
          <a:ln/>
        </p:spPr>
        <p:txBody>
          <a:bodyPr wrap="square" lIns="0" tIns="0" rIns="0" bIns="0" rtlCol="0" anchor="t"/>
          <a:lstStyle/>
          <a:p>
            <a:pPr indent="0" marL="0">
              <a:lnSpc>
                <a:spcPts val="918"/>
              </a:lnSpc>
              <a:buNone/>
            </a:pPr>
            <a:r>
              <a:rPr lang="en-US" sz="1020" dirty="0">
                <a:solidFill>
                  <a:srgbClr val="CBD5E1"/>
                </a:solidFill>
                <a:latin typeface="Segoe UI" pitchFamily="34" charset="0"/>
                <a:ea typeface="Segoe UI" pitchFamily="34" charset="-122"/>
                <a:cs typeface="Segoe UI" pitchFamily="34" charset="-120"/>
              </a:rPr>
              <a:t>✓ Reasonable accommodations in subsidy calculation; accessible credit union offices (5 boroughs)</a:t>
            </a:r>
            <a:endParaRPr lang="en-US" sz="1020" dirty="0"/>
          </a:p>
        </p:txBody>
      </p:sp>
      <p:sp>
        <p:nvSpPr>
          <p:cNvPr id="11" name="Text 9"/>
          <p:cNvSpPr/>
          <p:nvPr/>
        </p:nvSpPr>
        <p:spPr>
          <a:xfrm>
            <a:off x="800100" y="3133725"/>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3B82F6"/>
                </a:solidFill>
                <a:latin typeface="Segoe UI" pitchFamily="34" charset="0"/>
                <a:ea typeface="Segoe UI" pitchFamily="34" charset="-122"/>
                <a:cs typeface="Segoe UI" pitchFamily="34" charset="-120"/>
              </a:rPr>
              <a:t>Procurement (M/WBE)</a:t>
            </a:r>
            <a:endParaRPr lang="en-US" sz="1500" dirty="0"/>
          </a:p>
        </p:txBody>
      </p:sp>
      <p:sp>
        <p:nvSpPr>
          <p:cNvPr id="12" name="Text 10"/>
          <p:cNvSpPr/>
          <p:nvPr/>
        </p:nvSpPr>
        <p:spPr>
          <a:xfrm>
            <a:off x="800100" y="3438525"/>
            <a:ext cx="7733538" cy="157163"/>
          </a:xfrm>
          <a:prstGeom prst="rect">
            <a:avLst/>
          </a:prstGeom>
          <a:noFill/>
          <a:ln/>
        </p:spPr>
        <p:txBody>
          <a:bodyPr wrap="square" lIns="0" tIns="0" rIns="0" bIns="0" rtlCol="0" anchor="t"/>
          <a:lstStyle/>
          <a:p>
            <a:pPr indent="0" marL="0">
              <a:lnSpc>
                <a:spcPts val="918"/>
              </a:lnSpc>
              <a:buNone/>
            </a:pPr>
            <a:r>
              <a:rPr lang="en-US" sz="1020" dirty="0">
                <a:solidFill>
                  <a:srgbClr val="CBD5E1"/>
                </a:solidFill>
                <a:latin typeface="Segoe UI" pitchFamily="34" charset="0"/>
                <a:ea typeface="Segoe UI" pitchFamily="34" charset="-122"/>
                <a:cs typeface="Segoe UI" pitchFamily="34" charset="-120"/>
              </a:rPr>
              <a:t>✓ 30% M/WBE credit union partners; legal, tech, consulting contracts bound to equity targets</a:t>
            </a:r>
            <a:endParaRPr lang="en-US" sz="1020" dirty="0"/>
          </a:p>
        </p:txBody>
      </p:sp>
      <p:sp>
        <p:nvSpPr>
          <p:cNvPr id="13" name="Text 11"/>
          <p:cNvSpPr/>
          <p:nvPr/>
        </p:nvSpPr>
        <p:spPr>
          <a:xfrm>
            <a:off x="800100" y="4052888"/>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F59E0B"/>
                </a:solidFill>
                <a:latin typeface="Segoe UI" pitchFamily="34" charset="0"/>
                <a:ea typeface="Segoe UI" pitchFamily="34" charset="-122"/>
                <a:cs typeface="Segoe UI" pitchFamily="34" charset="-120"/>
              </a:rPr>
              <a:t>Fiduciary Risk Mitigation</a:t>
            </a:r>
            <a:endParaRPr lang="en-US" sz="1500" dirty="0"/>
          </a:p>
        </p:txBody>
      </p:sp>
      <p:sp>
        <p:nvSpPr>
          <p:cNvPr id="14" name="Text 12"/>
          <p:cNvSpPr/>
          <p:nvPr/>
        </p:nvSpPr>
        <p:spPr>
          <a:xfrm>
            <a:off x="800100" y="4357688"/>
            <a:ext cx="7733538" cy="152400"/>
          </a:xfrm>
          <a:prstGeom prst="rect">
            <a:avLst/>
          </a:prstGeom>
          <a:noFill/>
          <a:ln/>
        </p:spPr>
        <p:txBody>
          <a:bodyPr wrap="square" lIns="0" tIns="0" rIns="0" bIns="0" rtlCol="0" anchor="t"/>
          <a:lstStyle/>
          <a:p>
            <a:pPr indent="0" marL="0">
              <a:lnSpc>
                <a:spcPts val="918"/>
              </a:lnSpc>
              <a:buNone/>
            </a:pPr>
            <a:r>
              <a:rPr lang="en-US" sz="1020" dirty="0">
                <a:solidFill>
                  <a:srgbClr val="CBD5E1"/>
                </a:solidFill>
                <a:latin typeface="Segoe UI" pitchFamily="34" charset="0"/>
                <a:ea typeface="Segoe UI" pitchFamily="34" charset="-122"/>
                <a:cs typeface="Segoe UI" pitchFamily="34" charset="-120"/>
              </a:rPr>
              <a:t>D&amp;O insurance, independent annual audit (KPMG/Deloitte), tenant ombudsman office</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1676400"/>
            <a:ext cx="7924800" cy="998190"/>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3" name="Text 1"/>
          <p:cNvSpPr/>
          <p:nvPr/>
        </p:nvSpPr>
        <p:spPr>
          <a:xfrm>
            <a:off x="609600" y="2826990"/>
            <a:ext cx="7924800" cy="998190"/>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4" name="Text 2"/>
          <p:cNvSpPr/>
          <p:nvPr/>
        </p:nvSpPr>
        <p:spPr>
          <a:xfrm>
            <a:off x="609600" y="3977580"/>
            <a:ext cx="7924800" cy="998190"/>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5" name="Text 3"/>
          <p:cNvSpPr/>
          <p:nvPr/>
        </p:nvSpPr>
        <p:spPr>
          <a:xfrm>
            <a:off x="609600" y="609600"/>
            <a:ext cx="7924800" cy="9144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International Models: Vienna, Singapore, Toronto</a:t>
            </a:r>
            <a:endParaRPr lang="en-US" sz="3000" dirty="0"/>
          </a:p>
        </p:txBody>
      </p:sp>
      <p:sp>
        <p:nvSpPr>
          <p:cNvPr id="6" name="Text 4"/>
          <p:cNvSpPr/>
          <p:nvPr/>
        </p:nvSpPr>
        <p:spPr>
          <a:xfrm>
            <a:off x="800100" y="1828800"/>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06B6D4"/>
                </a:solidFill>
                <a:latin typeface="Segoe UI" pitchFamily="34" charset="0"/>
                <a:ea typeface="Segoe UI" pitchFamily="34" charset="-122"/>
                <a:cs typeface="Segoe UI" pitchFamily="34" charset="-120"/>
              </a:rPr>
              <a:t>Vienna (62% Social Housing)</a:t>
            </a:r>
            <a:endParaRPr lang="en-US" sz="1500" dirty="0"/>
          </a:p>
        </p:txBody>
      </p:sp>
      <p:sp>
        <p:nvSpPr>
          <p:cNvPr id="7" name="Text 5"/>
          <p:cNvSpPr/>
          <p:nvPr/>
        </p:nvSpPr>
        <p:spPr>
          <a:xfrm>
            <a:off x="800100" y="2133600"/>
            <a:ext cx="7581900" cy="388590"/>
          </a:xfrm>
          <a:prstGeom prst="rect">
            <a:avLst/>
          </a:prstGeom>
          <a:noFill/>
          <a:ln/>
        </p:spPr>
        <p:txBody>
          <a:bodyPr wrap="square" lIns="0" tIns="0" rIns="0" bIns="0" rtlCol="0" anchor="t"/>
          <a:lstStyle/>
          <a:p>
            <a:pPr indent="0" marL="0">
              <a:lnSpc>
                <a:spcPts val="1530"/>
              </a:lnSpc>
              <a:buNone/>
            </a:pPr>
            <a:r>
              <a:rPr lang="en-US" sz="1020" dirty="0">
                <a:solidFill>
                  <a:srgbClr val="CBD5E1"/>
                </a:solidFill>
                <a:latin typeface="Segoe UI" pitchFamily="34" charset="0"/>
                <a:ea typeface="Segoe UI" pitchFamily="34" charset="-122"/>
                <a:cs typeface="Segoe UI" pitchFamily="34" charset="-120"/>
              </a:rPr>
              <a:t>Municipal cooperatives own 38% of stock; rents @ 25% AMI; intergenerational transfer model; $2.8B annual ops budget serving 250K HHs</a:t>
            </a:r>
            <a:endParaRPr lang="en-US" sz="1020" dirty="0"/>
          </a:p>
        </p:txBody>
      </p:sp>
      <p:sp>
        <p:nvSpPr>
          <p:cNvPr id="8" name="Text 6"/>
          <p:cNvSpPr/>
          <p:nvPr/>
        </p:nvSpPr>
        <p:spPr>
          <a:xfrm>
            <a:off x="800100" y="2979390"/>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06B6D4"/>
                </a:solidFill>
                <a:latin typeface="Segoe UI" pitchFamily="34" charset="0"/>
                <a:ea typeface="Segoe UI" pitchFamily="34" charset="-122"/>
                <a:cs typeface="Segoe UI" pitchFamily="34" charset="-120"/>
              </a:rPr>
              <a:t>Singapore (80% Public Housing)</a:t>
            </a:r>
            <a:endParaRPr lang="en-US" sz="1500" dirty="0"/>
          </a:p>
        </p:txBody>
      </p:sp>
      <p:sp>
        <p:nvSpPr>
          <p:cNvPr id="9" name="Text 7"/>
          <p:cNvSpPr/>
          <p:nvPr/>
        </p:nvSpPr>
        <p:spPr>
          <a:xfrm>
            <a:off x="800100" y="3284190"/>
            <a:ext cx="7581900" cy="388590"/>
          </a:xfrm>
          <a:prstGeom prst="rect">
            <a:avLst/>
          </a:prstGeom>
          <a:noFill/>
          <a:ln/>
        </p:spPr>
        <p:txBody>
          <a:bodyPr wrap="square" lIns="0" tIns="0" rIns="0" bIns="0" rtlCol="0" anchor="t"/>
          <a:lstStyle/>
          <a:p>
            <a:pPr indent="0" marL="0">
              <a:lnSpc>
                <a:spcPts val="1530"/>
              </a:lnSpc>
              <a:buNone/>
            </a:pPr>
            <a:r>
              <a:rPr lang="en-US" sz="1020" dirty="0">
                <a:solidFill>
                  <a:srgbClr val="CBD5E1"/>
                </a:solidFill>
                <a:latin typeface="Segoe UI" pitchFamily="34" charset="0"/>
                <a:ea typeface="Segoe UI" pitchFamily="34" charset="-122"/>
                <a:cs typeface="Segoe UI" pitchFamily="34" charset="-120"/>
              </a:rPr>
              <a:t>HDB program: tenant purchase options (99-year lease); 90% homeownership rate; CPF (retirement) contributions subsidize down payments</a:t>
            </a:r>
            <a:endParaRPr lang="en-US" sz="1020" dirty="0"/>
          </a:p>
        </p:txBody>
      </p:sp>
      <p:sp>
        <p:nvSpPr>
          <p:cNvPr id="10" name="Text 8"/>
          <p:cNvSpPr/>
          <p:nvPr/>
        </p:nvSpPr>
        <p:spPr>
          <a:xfrm>
            <a:off x="800100" y="4129980"/>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06B6D4"/>
                </a:solidFill>
                <a:latin typeface="Segoe UI" pitchFamily="34" charset="0"/>
                <a:ea typeface="Segoe UI" pitchFamily="34" charset="-122"/>
                <a:cs typeface="Segoe UI" pitchFamily="34" charset="-120"/>
              </a:rPr>
              <a:t>Toronto (Inclusionary Zoning)</a:t>
            </a:r>
            <a:endParaRPr lang="en-US" sz="1500" dirty="0"/>
          </a:p>
        </p:txBody>
      </p:sp>
      <p:sp>
        <p:nvSpPr>
          <p:cNvPr id="11" name="Text 9"/>
          <p:cNvSpPr/>
          <p:nvPr/>
        </p:nvSpPr>
        <p:spPr>
          <a:xfrm>
            <a:off x="800100" y="4434780"/>
            <a:ext cx="7581900" cy="388590"/>
          </a:xfrm>
          <a:prstGeom prst="rect">
            <a:avLst/>
          </a:prstGeom>
          <a:noFill/>
          <a:ln/>
        </p:spPr>
        <p:txBody>
          <a:bodyPr wrap="square" lIns="0" tIns="0" rIns="0" bIns="0" rtlCol="0" anchor="t"/>
          <a:lstStyle/>
          <a:p>
            <a:pPr indent="0" marL="0">
              <a:lnSpc>
                <a:spcPts val="1530"/>
              </a:lnSpc>
              <a:buNone/>
            </a:pPr>
            <a:r>
              <a:rPr lang="en-US" sz="1020" dirty="0">
                <a:solidFill>
                  <a:srgbClr val="CBD5E1"/>
                </a:solidFill>
                <a:latin typeface="Segoe UI" pitchFamily="34" charset="0"/>
                <a:ea typeface="Segoe UI" pitchFamily="34" charset="-122"/>
                <a:cs typeface="Segoe UI" pitchFamily="34" charset="-120"/>
              </a:rPr>
              <a:t>15% inclusion mandate in new developments; CICs (Community Investment Cooperatives) own 12% of affordable stock; average 18% equity accrual in 10 years</a:t>
            </a:r>
            <a:endParaRPr lang="en-US" sz="10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1447800"/>
            <a:ext cx="7924800" cy="1923157"/>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3" name="Text 1"/>
          <p:cNvSpPr/>
          <p:nvPr/>
        </p:nvSpPr>
        <p:spPr>
          <a:xfrm>
            <a:off x="609600" y="3370957"/>
            <a:ext cx="7924800" cy="1923157"/>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4" name="Text 2"/>
          <p:cNvSpPr/>
          <p:nvPr/>
        </p:nvSpPr>
        <p:spPr>
          <a:xfrm>
            <a:off x="609600" y="5294114"/>
            <a:ext cx="7924800" cy="1923157"/>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5" name="Text 3"/>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90-Day + 5-Year Rollout</a:t>
            </a:r>
            <a:endParaRPr lang="en-US" sz="3000" dirty="0"/>
          </a:p>
        </p:txBody>
      </p:sp>
      <p:sp>
        <p:nvSpPr>
          <p:cNvPr id="6" name="Text 4"/>
          <p:cNvSpPr/>
          <p:nvPr/>
        </p:nvSpPr>
        <p:spPr>
          <a:xfrm>
            <a:off x="800100" y="1600200"/>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06B6D4"/>
                </a:solidFill>
                <a:latin typeface="Segoe UI" pitchFamily="34" charset="0"/>
                <a:ea typeface="Segoe UI" pitchFamily="34" charset="-122"/>
                <a:cs typeface="Segoe UI" pitchFamily="34" charset="-120"/>
              </a:rPr>
              <a:t>Phase I (Days 1-90)</a:t>
            </a:r>
            <a:endParaRPr lang="en-US" sz="1500" dirty="0"/>
          </a:p>
        </p:txBody>
      </p:sp>
      <p:sp>
        <p:nvSpPr>
          <p:cNvPr id="7" name="Text 5"/>
          <p:cNvSpPr/>
          <p:nvPr/>
        </p:nvSpPr>
        <p:spPr>
          <a:xfrm>
            <a:off x="1104900" y="1943100"/>
            <a:ext cx="7277100" cy="1275457"/>
          </a:xfrm>
          <a:prstGeom prst="rect">
            <a:avLst/>
          </a:prstGeom>
          <a:noFill/>
          <a:ln/>
        </p:spPr>
        <p:txBody>
          <a:bodyPr wrap="square" lIns="0" tIns="0" rIns="0" bIns="0" rtlCol="0" anchor="t"/>
          <a:lstStyle/>
          <a:p>
            <a:pPr marL="342900" indent="-342900">
              <a:lnSpc>
                <a:spcPts val="1836"/>
              </a:lnSpc>
              <a:buSzPct val="100000"/>
              <a:buChar char="•"/>
            </a:pPr>
            <a:r>
              <a:rPr lang="en-US" sz="1020" dirty="0">
                <a:solidFill>
                  <a:srgbClr val="CBD5E1"/>
                </a:solidFill>
                <a:latin typeface="Segoe UI" pitchFamily="34" charset="0"/>
                <a:ea typeface="Segoe UI" pitchFamily="34" charset="-122"/>
                <a:cs typeface="Segoe UI" pitchFamily="34" charset="-120"/>
              </a:rPr>
              <a:t>Agency MOU signing (HPD/HRA)</a:t>
            </a:r>
            <a:endParaRPr lang="en-US" sz="1020" dirty="0"/>
          </a:p>
          <a:p>
            <a:pPr marL="342900" indent="-342900">
              <a:lnSpc>
                <a:spcPts val="1836"/>
              </a:lnSpc>
              <a:buSzPct val="100000"/>
              <a:buChar char="•"/>
            </a:pPr>
            <a:r>
              <a:rPr lang="en-US" sz="1020" dirty="0">
                <a:solidFill>
                  <a:srgbClr val="CBD5E1"/>
                </a:solidFill>
                <a:latin typeface="Segoe UI" pitchFamily="34" charset="0"/>
                <a:ea typeface="Segoe UI" pitchFamily="34" charset="-122"/>
                <a:cs typeface="Segoe UI" pitchFamily="34" charset="-120"/>
              </a:rPr>
              <a:t>Credit union RFP process</a:t>
            </a:r>
            <a:endParaRPr lang="en-US" sz="1020" dirty="0"/>
          </a:p>
          <a:p>
            <a:pPr marL="342900" indent="-342900">
              <a:lnSpc>
                <a:spcPts val="1836"/>
              </a:lnSpc>
              <a:buSzPct val="100000"/>
              <a:buChar char="•"/>
            </a:pPr>
            <a:r>
              <a:rPr lang="en-US" sz="1020" dirty="0">
                <a:solidFill>
                  <a:srgbClr val="CBD5E1"/>
                </a:solidFill>
                <a:latin typeface="Segoe UI" pitchFamily="34" charset="0"/>
                <a:ea typeface="Segoe UI" pitchFamily="34" charset="-122"/>
                <a:cs typeface="Segoe UI" pitchFamily="34" charset="-120"/>
              </a:rPr>
              <a:t>Legal framework finalization</a:t>
            </a:r>
            <a:endParaRPr lang="en-US" sz="1020" dirty="0"/>
          </a:p>
          <a:p>
            <a:pPr marL="342900" indent="-342900">
              <a:lnSpc>
                <a:spcPts val="1836"/>
              </a:lnSpc>
              <a:buSzPct val="100000"/>
              <a:buChar char="•"/>
            </a:pPr>
            <a:r>
              <a:rPr lang="en-US" sz="1020" dirty="0">
                <a:solidFill>
                  <a:srgbClr val="CBD5E1"/>
                </a:solidFill>
                <a:latin typeface="Segoe UI" pitchFamily="34" charset="0"/>
                <a:ea typeface="Segoe UI" pitchFamily="34" charset="-122"/>
                <a:cs typeface="Segoe UI" pitchFamily="34" charset="-120"/>
              </a:rPr>
              <a:t>Pilot site selection (2-3 districts)</a:t>
            </a:r>
            <a:endParaRPr lang="en-US" sz="1020" dirty="0"/>
          </a:p>
        </p:txBody>
      </p:sp>
      <p:sp>
        <p:nvSpPr>
          <p:cNvPr id="8" name="Text 6"/>
          <p:cNvSpPr/>
          <p:nvPr/>
        </p:nvSpPr>
        <p:spPr>
          <a:xfrm>
            <a:off x="800100" y="3523357"/>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3B82F6"/>
                </a:solidFill>
                <a:latin typeface="Segoe UI" pitchFamily="34" charset="0"/>
                <a:ea typeface="Segoe UI" pitchFamily="34" charset="-122"/>
                <a:cs typeface="Segoe UI" pitchFamily="34" charset="-120"/>
              </a:rPr>
              <a:t>Phase II (Yr 1-2)</a:t>
            </a:r>
            <a:endParaRPr lang="en-US" sz="1500" dirty="0"/>
          </a:p>
        </p:txBody>
      </p:sp>
      <p:sp>
        <p:nvSpPr>
          <p:cNvPr id="9" name="Text 7"/>
          <p:cNvSpPr/>
          <p:nvPr/>
        </p:nvSpPr>
        <p:spPr>
          <a:xfrm>
            <a:off x="1104900" y="3866257"/>
            <a:ext cx="7277100" cy="1275457"/>
          </a:xfrm>
          <a:prstGeom prst="rect">
            <a:avLst/>
          </a:prstGeom>
          <a:noFill/>
          <a:ln/>
        </p:spPr>
        <p:txBody>
          <a:bodyPr wrap="square" lIns="0" tIns="0" rIns="0" bIns="0" rtlCol="0" anchor="t"/>
          <a:lstStyle/>
          <a:p>
            <a:pPr marL="342900" indent="-342900">
              <a:lnSpc>
                <a:spcPts val="1836"/>
              </a:lnSpc>
              <a:buSzPct val="100000"/>
              <a:buChar char="•"/>
            </a:pPr>
            <a:r>
              <a:rPr lang="en-US" sz="1020" dirty="0">
                <a:solidFill>
                  <a:srgbClr val="CBD5E1"/>
                </a:solidFill>
                <a:latin typeface="Segoe UI" pitchFamily="34" charset="0"/>
                <a:ea typeface="Segoe UI" pitchFamily="34" charset="-122"/>
                <a:cs typeface="Segoe UI" pitchFamily="34" charset="-120"/>
              </a:rPr>
              <a:t>Pilot enrollment: 10K HHs</a:t>
            </a:r>
            <a:endParaRPr lang="en-US" sz="1020" dirty="0"/>
          </a:p>
          <a:p>
            <a:pPr marL="342900" indent="-342900">
              <a:lnSpc>
                <a:spcPts val="1836"/>
              </a:lnSpc>
              <a:buSzPct val="100000"/>
              <a:buChar char="•"/>
            </a:pPr>
            <a:r>
              <a:rPr lang="en-US" sz="1020" dirty="0">
                <a:solidFill>
                  <a:srgbClr val="CBD5E1"/>
                </a:solidFill>
                <a:latin typeface="Segoe UI" pitchFamily="34" charset="0"/>
                <a:ea typeface="Segoe UI" pitchFamily="34" charset="-122"/>
                <a:cs typeface="Segoe UI" pitchFamily="34" charset="-120"/>
              </a:rPr>
              <a:t>TCAP underwriting test</a:t>
            </a:r>
            <a:endParaRPr lang="en-US" sz="1020" dirty="0"/>
          </a:p>
          <a:p>
            <a:pPr marL="342900" indent="-342900">
              <a:lnSpc>
                <a:spcPts val="1836"/>
              </a:lnSpc>
              <a:buSzPct val="100000"/>
              <a:buChar char="•"/>
            </a:pPr>
            <a:r>
              <a:rPr lang="en-US" sz="1020" dirty="0">
                <a:solidFill>
                  <a:srgbClr val="CBD5E1"/>
                </a:solidFill>
                <a:latin typeface="Segoe UI" pitchFamily="34" charset="0"/>
                <a:ea typeface="Segoe UI" pitchFamily="34" charset="-122"/>
                <a:cs typeface="Segoe UI" pitchFamily="34" charset="-120"/>
              </a:rPr>
              <a:t>Tenant education rollout</a:t>
            </a:r>
            <a:endParaRPr lang="en-US" sz="1020" dirty="0"/>
          </a:p>
          <a:p>
            <a:pPr marL="342900" indent="-342900">
              <a:lnSpc>
                <a:spcPts val="1836"/>
              </a:lnSpc>
              <a:buSzPct val="100000"/>
              <a:buChar char="•"/>
            </a:pPr>
            <a:r>
              <a:rPr lang="en-US" sz="1020" dirty="0">
                <a:solidFill>
                  <a:srgbClr val="CBD5E1"/>
                </a:solidFill>
                <a:latin typeface="Segoe UI" pitchFamily="34" charset="0"/>
                <a:ea typeface="Segoe UI" pitchFamily="34" charset="-122"/>
                <a:cs typeface="Segoe UI" pitchFamily="34" charset="-120"/>
              </a:rPr>
              <a:t>Systems integration (HRA/CUNA)</a:t>
            </a:r>
            <a:endParaRPr lang="en-US" sz="1020" dirty="0"/>
          </a:p>
        </p:txBody>
      </p:sp>
      <p:sp>
        <p:nvSpPr>
          <p:cNvPr id="10" name="Text 8"/>
          <p:cNvSpPr/>
          <p:nvPr/>
        </p:nvSpPr>
        <p:spPr>
          <a:xfrm>
            <a:off x="800100" y="5446514"/>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10B981"/>
                </a:solidFill>
                <a:latin typeface="Segoe UI" pitchFamily="34" charset="0"/>
                <a:ea typeface="Segoe UI" pitchFamily="34" charset="-122"/>
                <a:cs typeface="Segoe UI" pitchFamily="34" charset="-120"/>
              </a:rPr>
              <a:t>Phase III (Yr 3-5)</a:t>
            </a:r>
            <a:endParaRPr lang="en-US" sz="1500" dirty="0"/>
          </a:p>
        </p:txBody>
      </p:sp>
      <p:sp>
        <p:nvSpPr>
          <p:cNvPr id="11" name="Text 9"/>
          <p:cNvSpPr/>
          <p:nvPr/>
        </p:nvSpPr>
        <p:spPr>
          <a:xfrm>
            <a:off x="1104900" y="5789414"/>
            <a:ext cx="7277100" cy="1275457"/>
          </a:xfrm>
          <a:prstGeom prst="rect">
            <a:avLst/>
          </a:prstGeom>
          <a:noFill/>
          <a:ln/>
        </p:spPr>
        <p:txBody>
          <a:bodyPr wrap="square" lIns="0" tIns="0" rIns="0" bIns="0" rtlCol="0" anchor="t"/>
          <a:lstStyle/>
          <a:p>
            <a:pPr marL="342900" indent="-342900">
              <a:lnSpc>
                <a:spcPts val="1836"/>
              </a:lnSpc>
              <a:buSzPct val="100000"/>
              <a:buChar char="•"/>
            </a:pPr>
            <a:r>
              <a:rPr lang="en-US" sz="1020" dirty="0">
                <a:solidFill>
                  <a:srgbClr val="CBD5E1"/>
                </a:solidFill>
                <a:latin typeface="Segoe UI" pitchFamily="34" charset="0"/>
                <a:ea typeface="Segoe UI" pitchFamily="34" charset="-122"/>
                <a:cs typeface="Segoe UI" pitchFamily="34" charset="-120"/>
              </a:rPr>
              <a:t>Citywide rollout: 50K HHs</a:t>
            </a:r>
            <a:endParaRPr lang="en-US" sz="1020" dirty="0"/>
          </a:p>
          <a:p>
            <a:pPr marL="342900" indent="-342900">
              <a:lnSpc>
                <a:spcPts val="1836"/>
              </a:lnSpc>
              <a:buSzPct val="100000"/>
              <a:buChar char="•"/>
            </a:pPr>
            <a:r>
              <a:rPr lang="en-US" sz="1020" dirty="0">
                <a:solidFill>
                  <a:srgbClr val="CBD5E1"/>
                </a:solidFill>
                <a:latin typeface="Segoe UI" pitchFamily="34" charset="0"/>
                <a:ea typeface="Segoe UI" pitchFamily="34" charset="-122"/>
                <a:cs typeface="Segoe UI" pitchFamily="34" charset="-120"/>
              </a:rPr>
              <a:t>Secondary equity market launch</a:t>
            </a:r>
            <a:endParaRPr lang="en-US" sz="1020" dirty="0"/>
          </a:p>
          <a:p>
            <a:pPr marL="342900" indent="-342900">
              <a:lnSpc>
                <a:spcPts val="1836"/>
              </a:lnSpc>
              <a:buSzPct val="100000"/>
              <a:buChar char="•"/>
            </a:pPr>
            <a:r>
              <a:rPr lang="en-US" sz="1020" dirty="0">
                <a:solidFill>
                  <a:srgbClr val="CBD5E1"/>
                </a:solidFill>
                <a:latin typeface="Segoe UI" pitchFamily="34" charset="0"/>
                <a:ea typeface="Segoe UI" pitchFamily="34" charset="-122"/>
                <a:cs typeface="Segoe UI" pitchFamily="34" charset="-120"/>
              </a:rPr>
              <a:t>Re-investment program go-live</a:t>
            </a:r>
            <a:endParaRPr lang="en-US" sz="1020" dirty="0"/>
          </a:p>
          <a:p>
            <a:pPr marL="342900" indent="-342900">
              <a:lnSpc>
                <a:spcPts val="1836"/>
              </a:lnSpc>
              <a:buSzPct val="100000"/>
              <a:buChar char="•"/>
            </a:pPr>
            <a:r>
              <a:rPr lang="en-US" sz="1020" dirty="0">
                <a:solidFill>
                  <a:srgbClr val="CBD5E1"/>
                </a:solidFill>
                <a:latin typeface="Segoe UI" pitchFamily="34" charset="0"/>
                <a:ea typeface="Segoe UI" pitchFamily="34" charset="-122"/>
                <a:cs typeface="Segoe UI" pitchFamily="34" charset="-120"/>
              </a:rPr>
              <a:t>Policy legislation passage</a:t>
            </a:r>
            <a:endParaRPr lang="en-US" sz="10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1371600"/>
            <a:ext cx="7924800" cy="762000"/>
          </a:xfrm>
          <a:prstGeom prst="rect">
            <a:avLst/>
          </a:prstGeom>
          <a:solidFill>
            <a:srgbClr val="EF4444">
              <a:alpha val="10000"/>
            </a:srgbClr>
          </a:solidFill>
          <a:ln/>
        </p:spPr>
        <p:txBody>
          <a:bodyPr wrap="none" lIns="0" tIns="0" rIns="0" bIns="0" rtlCol="0" anchor="ctr">
            <a:normAutofit/>
          </a:bodyPr>
          <a:lstStyle/>
          <a:p>
            <a:pPr indent="0" marL="0">
              <a:buNone/>
            </a:pPr>
            <a:endParaRPr lang="en-US" dirty="0"/>
          </a:p>
        </p:txBody>
      </p:sp>
      <p:sp>
        <p:nvSpPr>
          <p:cNvPr id="3" name="Text 1"/>
          <p:cNvSpPr/>
          <p:nvPr/>
        </p:nvSpPr>
        <p:spPr>
          <a:xfrm>
            <a:off x="609600" y="2133600"/>
            <a:ext cx="7924800" cy="762000"/>
          </a:xfrm>
          <a:prstGeom prst="rect">
            <a:avLst/>
          </a:prstGeom>
          <a:solidFill>
            <a:srgbClr val="EF4444">
              <a:alpha val="10000"/>
            </a:srgbClr>
          </a:solidFill>
          <a:ln/>
        </p:spPr>
        <p:txBody>
          <a:bodyPr wrap="none" lIns="0" tIns="0" rIns="0" bIns="0" rtlCol="0" anchor="ctr">
            <a:normAutofit/>
          </a:bodyPr>
          <a:lstStyle/>
          <a:p>
            <a:pPr indent="0" marL="0">
              <a:buNone/>
            </a:pPr>
            <a:endParaRPr lang="en-US" dirty="0"/>
          </a:p>
        </p:txBody>
      </p:sp>
      <p:sp>
        <p:nvSpPr>
          <p:cNvPr id="4" name="Text 2"/>
          <p:cNvSpPr/>
          <p:nvPr/>
        </p:nvSpPr>
        <p:spPr>
          <a:xfrm>
            <a:off x="609600" y="2895600"/>
            <a:ext cx="7924800" cy="762000"/>
          </a:xfrm>
          <a:prstGeom prst="rect">
            <a:avLst/>
          </a:prstGeom>
          <a:solidFill>
            <a:srgbClr val="EF4444">
              <a:alpha val="10000"/>
            </a:srgbClr>
          </a:solidFill>
          <a:ln/>
        </p:spPr>
        <p:txBody>
          <a:bodyPr wrap="none" lIns="0" tIns="0" rIns="0" bIns="0" rtlCol="0" anchor="ctr">
            <a:normAutofit/>
          </a:bodyPr>
          <a:lstStyle/>
          <a:p>
            <a:pPr indent="0" marL="0">
              <a:buNone/>
            </a:pPr>
            <a:endParaRPr lang="en-US" dirty="0"/>
          </a:p>
        </p:txBody>
      </p:sp>
      <p:sp>
        <p:nvSpPr>
          <p:cNvPr id="5" name="Text 3"/>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Risk Radar &amp; Mitigation Strategy</a:t>
            </a:r>
            <a:endParaRPr lang="en-US" sz="3000" dirty="0"/>
          </a:p>
        </p:txBody>
      </p:sp>
      <p:sp>
        <p:nvSpPr>
          <p:cNvPr id="6" name="Text 4"/>
          <p:cNvSpPr/>
          <p:nvPr/>
        </p:nvSpPr>
        <p:spPr>
          <a:xfrm>
            <a:off x="800100" y="1524000"/>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FECACA"/>
                </a:solidFill>
                <a:latin typeface="Segoe UI" pitchFamily="34" charset="0"/>
                <a:ea typeface="Segoe UI" pitchFamily="34" charset="-122"/>
                <a:cs typeface="Segoe UI" pitchFamily="34" charset="-120"/>
              </a:rPr>
              <a:t>Political Risk</a:t>
            </a:r>
            <a:endParaRPr lang="en-US" sz="1500" dirty="0"/>
          </a:p>
        </p:txBody>
      </p:sp>
      <p:sp>
        <p:nvSpPr>
          <p:cNvPr id="7" name="Text 5"/>
          <p:cNvSpPr/>
          <p:nvPr/>
        </p:nvSpPr>
        <p:spPr>
          <a:xfrm>
            <a:off x="800100" y="1828800"/>
            <a:ext cx="7733538" cy="152400"/>
          </a:xfrm>
          <a:prstGeom prst="rect">
            <a:avLst/>
          </a:prstGeom>
          <a:noFill/>
          <a:ln/>
        </p:spPr>
        <p:txBody>
          <a:bodyPr wrap="square" lIns="0" tIns="0" rIns="0" bIns="0" rtlCol="0" anchor="t"/>
          <a:lstStyle/>
          <a:p>
            <a:pPr indent="0" marL="0">
              <a:lnSpc>
                <a:spcPts val="918"/>
              </a:lnSpc>
              <a:buNone/>
            </a:pPr>
            <a:r>
              <a:rPr lang="en-US" sz="1020" dirty="0">
                <a:solidFill>
                  <a:srgbClr val="CBD5E1"/>
                </a:solidFill>
                <a:latin typeface="Segoe UI" pitchFamily="34" charset="0"/>
                <a:ea typeface="Segoe UI" pitchFamily="34" charset="-122"/>
                <a:cs typeface="Segoe UI" pitchFamily="34" charset="-120"/>
              </a:rPr>
              <a:t>Budget cuts during recession → </a:t>
            </a:r>
            <a:pPr indent="0" marL="0">
              <a:lnSpc>
                <a:spcPts val="918"/>
              </a:lnSpc>
              <a:buNone/>
            </a:pPr>
            <a:r>
              <a:rPr lang="en-US" sz="1020" b="1" dirty="0">
                <a:solidFill>
                  <a:srgbClr val="10B981"/>
                </a:solidFill>
                <a:latin typeface="Segoe UI" pitchFamily="34" charset="0"/>
                <a:ea typeface="Segoe UI" pitchFamily="34" charset="-122"/>
                <a:cs typeface="Segoe UI" pitchFamily="34" charset="-120"/>
              </a:rPr>
              <a:t>30-year lock-in via state legislation; federal guarantee structure</a:t>
            </a:r>
            <a:endParaRPr lang="en-US" sz="1020" dirty="0"/>
          </a:p>
        </p:txBody>
      </p:sp>
      <p:sp>
        <p:nvSpPr>
          <p:cNvPr id="8" name="Text 6"/>
          <p:cNvSpPr/>
          <p:nvPr/>
        </p:nvSpPr>
        <p:spPr>
          <a:xfrm>
            <a:off x="800100" y="2286000"/>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FECACA"/>
                </a:solidFill>
                <a:latin typeface="Segoe UI" pitchFamily="34" charset="0"/>
                <a:ea typeface="Segoe UI" pitchFamily="34" charset="-122"/>
                <a:cs typeface="Segoe UI" pitchFamily="34" charset="-120"/>
              </a:rPr>
              <a:t>Credit Union Solvency</a:t>
            </a:r>
            <a:endParaRPr lang="en-US" sz="1500" dirty="0"/>
          </a:p>
        </p:txBody>
      </p:sp>
      <p:sp>
        <p:nvSpPr>
          <p:cNvPr id="9" name="Text 7"/>
          <p:cNvSpPr/>
          <p:nvPr/>
        </p:nvSpPr>
        <p:spPr>
          <a:xfrm>
            <a:off x="800100" y="2590800"/>
            <a:ext cx="7733538" cy="152400"/>
          </a:xfrm>
          <a:prstGeom prst="rect">
            <a:avLst/>
          </a:prstGeom>
          <a:noFill/>
          <a:ln/>
        </p:spPr>
        <p:txBody>
          <a:bodyPr wrap="square" lIns="0" tIns="0" rIns="0" bIns="0" rtlCol="0" anchor="t"/>
          <a:lstStyle/>
          <a:p>
            <a:pPr indent="0" marL="0">
              <a:lnSpc>
                <a:spcPts val="918"/>
              </a:lnSpc>
              <a:buNone/>
            </a:pPr>
            <a:r>
              <a:rPr lang="en-US" sz="1020" dirty="0">
                <a:solidFill>
                  <a:srgbClr val="CBD5E1"/>
                </a:solidFill>
                <a:latin typeface="Segoe UI" pitchFamily="34" charset="0"/>
                <a:ea typeface="Segoe UI" pitchFamily="34" charset="-122"/>
                <a:cs typeface="Segoe UI" pitchFamily="34" charset="-120"/>
              </a:rPr>
              <a:t>Default rates spike → </a:t>
            </a:r>
            <a:pPr indent="0" marL="0">
              <a:lnSpc>
                <a:spcPts val="918"/>
              </a:lnSpc>
              <a:buNone/>
            </a:pPr>
            <a:r>
              <a:rPr lang="en-US" sz="1020" b="1" dirty="0">
                <a:solidFill>
                  <a:srgbClr val="10B981"/>
                </a:solidFill>
                <a:latin typeface="Segoe UI" pitchFamily="34" charset="0"/>
                <a:ea typeface="Segoe UI" pitchFamily="34" charset="-122"/>
                <a:cs typeface="Segoe UI" pitchFamily="34" charset="-120"/>
              </a:rPr>
              <a:t>FDIC insurance; excess reserve fund (8% of portfolio)</a:t>
            </a:r>
            <a:endParaRPr lang="en-US" sz="1020" dirty="0"/>
          </a:p>
        </p:txBody>
      </p:sp>
      <p:sp>
        <p:nvSpPr>
          <p:cNvPr id="10" name="Text 8"/>
          <p:cNvSpPr/>
          <p:nvPr/>
        </p:nvSpPr>
        <p:spPr>
          <a:xfrm>
            <a:off x="800100" y="3048000"/>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FECACA"/>
                </a:solidFill>
                <a:latin typeface="Segoe UI" pitchFamily="34" charset="0"/>
                <a:ea typeface="Segoe UI" pitchFamily="34" charset="-122"/>
                <a:cs typeface="Segoe UI" pitchFamily="34" charset="-120"/>
              </a:rPr>
              <a:t>Tenant Enrollment</a:t>
            </a:r>
            <a:endParaRPr lang="en-US" sz="1500" dirty="0"/>
          </a:p>
        </p:txBody>
      </p:sp>
      <p:sp>
        <p:nvSpPr>
          <p:cNvPr id="11" name="Text 9"/>
          <p:cNvSpPr/>
          <p:nvPr/>
        </p:nvSpPr>
        <p:spPr>
          <a:xfrm>
            <a:off x="800100" y="3352800"/>
            <a:ext cx="7733538" cy="152400"/>
          </a:xfrm>
          <a:prstGeom prst="rect">
            <a:avLst/>
          </a:prstGeom>
          <a:noFill/>
          <a:ln/>
        </p:spPr>
        <p:txBody>
          <a:bodyPr wrap="square" lIns="0" tIns="0" rIns="0" bIns="0" rtlCol="0" anchor="t"/>
          <a:lstStyle/>
          <a:p>
            <a:pPr indent="0" marL="0">
              <a:lnSpc>
                <a:spcPts val="918"/>
              </a:lnSpc>
              <a:buNone/>
            </a:pPr>
            <a:r>
              <a:rPr lang="en-US" sz="1020" dirty="0">
                <a:solidFill>
                  <a:srgbClr val="CBD5E1"/>
                </a:solidFill>
                <a:latin typeface="Segoe UI" pitchFamily="34" charset="0"/>
                <a:ea typeface="Segoe UI" pitchFamily="34" charset="-122"/>
                <a:cs typeface="Segoe UI" pitchFamily="34" charset="-120"/>
              </a:rPr>
              <a:t>Low uptake (&lt;30%) → </a:t>
            </a:r>
            <a:pPr indent="0" marL="0">
              <a:lnSpc>
                <a:spcPts val="918"/>
              </a:lnSpc>
              <a:buNone/>
            </a:pPr>
            <a:r>
              <a:rPr lang="en-US" sz="1020" b="1" dirty="0">
                <a:solidFill>
                  <a:srgbClr val="10B981"/>
                </a:solidFill>
                <a:latin typeface="Segoe UI" pitchFamily="34" charset="0"/>
                <a:ea typeface="Segoe UI" pitchFamily="34" charset="-122"/>
                <a:cs typeface="Segoe UI" pitchFamily="34" charset="-120"/>
              </a:rPr>
              <a:t>Intensive outreach; on-site enrollment events; trusted community partners (nonprofits)</a:t>
            </a:r>
            <a:endParaRPr lang="en-US" sz="10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09600" y="1371600"/>
          <a:ext cx="7924800" cy="2305050"/>
        </p:xfrm>
        <a:graphic>
          <a:graphicData uri="http://schemas.openxmlformats.org/drawingml/2006/table">
            <a:tbl>
              <a:tblPr/>
              <a:tblGrid>
                <a:gridCol w="1981200"/>
                <a:gridCol w="1981200"/>
                <a:gridCol w="1981200"/>
                <a:gridCol w="1981200"/>
              </a:tblGrid>
              <a:tr h="384175">
                <a:tc>
                  <a:txBody>
                    <a:bodyPr/>
                    <a:lstStyle/>
                    <a:p>
                      <a:pPr algn="l" indent="0" marL="0">
                        <a:buNone/>
                      </a:pPr>
                      <a:r>
                        <a:rPr lang="en-US" sz="960" b="1" dirty="0">
                          <a:solidFill>
                            <a:srgbClr val="06B6D4"/>
                          </a:solidFill>
                          <a:latin typeface="Segoe UI" pitchFamily="34" charset="0"/>
                          <a:ea typeface="Segoe UI" pitchFamily="34" charset="-122"/>
                          <a:cs typeface="Segoe UI" pitchFamily="34" charset="-120"/>
                        </a:rPr>
                        <a:t>Budget Line</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60" b="1" dirty="0">
                          <a:solidFill>
                            <a:srgbClr val="06B6D4"/>
                          </a:solidFill>
                          <a:latin typeface="Segoe UI" pitchFamily="34" charset="0"/>
                          <a:ea typeface="Segoe UI" pitchFamily="34" charset="-122"/>
                          <a:cs typeface="Segoe UI" pitchFamily="34" charset="-120"/>
                        </a:rPr>
                        <a:t>Current (Annual)</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60" b="1" dirty="0">
                          <a:solidFill>
                            <a:srgbClr val="06B6D4"/>
                          </a:solidFill>
                          <a:latin typeface="Segoe UI" pitchFamily="34" charset="0"/>
                          <a:ea typeface="Segoe UI" pitchFamily="34" charset="-122"/>
                          <a:cs typeface="Segoe UI" pitchFamily="34" charset="-120"/>
                        </a:rPr>
                        <a:t>PET Model (Yr 5)</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60" b="1" dirty="0">
                          <a:solidFill>
                            <a:srgbClr val="06B6D4"/>
                          </a:solidFill>
                          <a:latin typeface="Segoe UI" pitchFamily="34" charset="0"/>
                          <a:ea typeface="Segoe UI" pitchFamily="34" charset="-122"/>
                          <a:cs typeface="Segoe UI" pitchFamily="34" charset="-120"/>
                        </a:rPr>
                        <a:t>Net Savings</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25400" cap="flat" cmpd="sng" algn="ctr">
                      <a:solidFill>
                        <a:srgbClr val="334155"/>
                      </a:solidFill>
                      <a:prstDash val="solid"/>
                      <a:round/>
                      <a:headEnd type="none" w="med" len="med"/>
                      <a:tailEnd type="none" w="med" len="med"/>
                    </a:lnB>
                    <a:solidFill>
                      <a:srgbClr val="1E293B"/>
                    </a:solidFill>
                  </a:tcPr>
                </a:tc>
              </a:tr>
              <a:tr h="384175">
                <a:tc>
                  <a:txBody>
                    <a:bodyPr/>
                    <a:lstStyle/>
                    <a:p>
                      <a:pPr indent="0" marL="0">
                        <a:buNone/>
                      </a:pPr>
                      <a:r>
                        <a:rPr lang="en-US" sz="960" dirty="0">
                          <a:solidFill>
                            <a:srgbClr val="CBD5E1"/>
                          </a:solidFill>
                          <a:latin typeface="Segoe UI" pitchFamily="34" charset="0"/>
                          <a:ea typeface="Segoe UI" pitchFamily="34" charset="-122"/>
                          <a:cs typeface="Segoe UI" pitchFamily="34" charset="-120"/>
                        </a:rPr>
                        <a:t>HRA Voucher Subsidy</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960" dirty="0">
                          <a:solidFill>
                            <a:srgbClr val="CBD5E1"/>
                          </a:solidFill>
                          <a:latin typeface="Segoe UI" pitchFamily="34" charset="0"/>
                          <a:ea typeface="Segoe UI" pitchFamily="34" charset="-122"/>
                          <a:cs typeface="Segoe UI" pitchFamily="34" charset="-120"/>
                        </a:rPr>
                        <a:t>$3.2B</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960" dirty="0">
                          <a:solidFill>
                            <a:srgbClr val="CBD5E1"/>
                          </a:solidFill>
                          <a:latin typeface="Segoe UI" pitchFamily="34" charset="0"/>
                          <a:ea typeface="Segoe UI" pitchFamily="34" charset="-122"/>
                          <a:cs typeface="Segoe UI" pitchFamily="34" charset="-120"/>
                        </a:rPr>
                        <a:t>$2.1B</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960" dirty="0">
                          <a:solidFill>
                            <a:srgbClr val="10B981"/>
                          </a:solidFill>
                          <a:latin typeface="Segoe UI" pitchFamily="34" charset="0"/>
                          <a:ea typeface="Segoe UI" pitchFamily="34" charset="-122"/>
                          <a:cs typeface="Segoe UI" pitchFamily="34" charset="-120"/>
                        </a:rPr>
                        <a:t>+$1.1B</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r>
              <a:tr h="384175">
                <a:tc>
                  <a:txBody>
                    <a:bodyPr/>
                    <a:lstStyle/>
                    <a:p>
                      <a:pPr indent="0" marL="0">
                        <a:buNone/>
                      </a:pPr>
                      <a:r>
                        <a:rPr lang="en-US" sz="960" dirty="0">
                          <a:solidFill>
                            <a:srgbClr val="CBD5E1"/>
                          </a:solidFill>
                          <a:latin typeface="Segoe UI" pitchFamily="34" charset="0"/>
                          <a:ea typeface="Segoe UI" pitchFamily="34" charset="-122"/>
                          <a:cs typeface="Segoe UI" pitchFamily="34" charset="-120"/>
                        </a:rPr>
                        <a:t>HPD Operating (Admin)</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960" dirty="0">
                          <a:solidFill>
                            <a:srgbClr val="CBD5E1"/>
                          </a:solidFill>
                          <a:latin typeface="Segoe UI" pitchFamily="34" charset="0"/>
                          <a:ea typeface="Segoe UI" pitchFamily="34" charset="-122"/>
                          <a:cs typeface="Segoe UI" pitchFamily="34" charset="-120"/>
                        </a:rPr>
                        <a:t>$520M</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960" dirty="0">
                          <a:solidFill>
                            <a:srgbClr val="CBD5E1"/>
                          </a:solidFill>
                          <a:latin typeface="Segoe UI" pitchFamily="34" charset="0"/>
                          <a:ea typeface="Segoe UI" pitchFamily="34" charset="-122"/>
                          <a:cs typeface="Segoe UI" pitchFamily="34" charset="-120"/>
                        </a:rPr>
                        <a:t>$475M (efficiency gain)</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960" dirty="0">
                          <a:solidFill>
                            <a:srgbClr val="10B981"/>
                          </a:solidFill>
                          <a:latin typeface="Segoe UI" pitchFamily="34" charset="0"/>
                          <a:ea typeface="Segoe UI" pitchFamily="34" charset="-122"/>
                          <a:cs typeface="Segoe UI" pitchFamily="34" charset="-120"/>
                        </a:rPr>
                        <a:t>+$45M</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r>
              <a:tr h="384175">
                <a:tc>
                  <a:txBody>
                    <a:bodyPr/>
                    <a:lstStyle/>
                    <a:p>
                      <a:pPr indent="0" marL="0">
                        <a:buNone/>
                      </a:pPr>
                      <a:r>
                        <a:rPr lang="en-US" sz="960" dirty="0">
                          <a:solidFill>
                            <a:srgbClr val="CBD5E1"/>
                          </a:solidFill>
                          <a:latin typeface="Segoe UI" pitchFamily="34" charset="0"/>
                          <a:ea typeface="Segoe UI" pitchFamily="34" charset="-122"/>
                          <a:cs typeface="Segoe UI" pitchFamily="34" charset="-120"/>
                        </a:rPr>
                        <a:t>PET Program Setup/Operations</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960" dirty="0">
                          <a:solidFill>
                            <a:srgbClr val="CBD5E1"/>
                          </a:solidFill>
                          <a:latin typeface="Segoe UI" pitchFamily="34" charset="0"/>
                          <a:ea typeface="Segoe UI" pitchFamily="34" charset="-122"/>
                          <a:cs typeface="Segoe UI" pitchFamily="34" charset="-120"/>
                        </a:rPr>
                        <a:t>—</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960" dirty="0">
                          <a:solidFill>
                            <a:srgbClr val="CBD5E1"/>
                          </a:solidFill>
                          <a:latin typeface="Segoe UI" pitchFamily="34" charset="0"/>
                          <a:ea typeface="Segoe UI" pitchFamily="34" charset="-122"/>
                          <a:cs typeface="Segoe UI" pitchFamily="34" charset="-120"/>
                        </a:rPr>
                        <a:t>$120M</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960" dirty="0">
                          <a:solidFill>
                            <a:srgbClr val="EF4444"/>
                          </a:solidFill>
                          <a:latin typeface="Segoe UI" pitchFamily="34" charset="0"/>
                          <a:ea typeface="Segoe UI" pitchFamily="34" charset="-122"/>
                          <a:cs typeface="Segoe UI" pitchFamily="34" charset="-120"/>
                        </a:rPr>
                        <a:t>-$120M</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r>
              <a:tr h="384175">
                <a:tc>
                  <a:txBody>
                    <a:bodyPr/>
                    <a:lstStyle/>
                    <a:p>
                      <a:pPr indent="0" marL="0">
                        <a:buNone/>
                      </a:pPr>
                      <a:r>
                        <a:rPr lang="en-US" sz="960" dirty="0">
                          <a:solidFill>
                            <a:srgbClr val="CBD5E1"/>
                          </a:solidFill>
                          <a:latin typeface="Segoe UI" pitchFamily="34" charset="0"/>
                          <a:ea typeface="Segoe UI" pitchFamily="34" charset="-122"/>
                          <a:cs typeface="Segoe UI" pitchFamily="34" charset="-120"/>
                        </a:rPr>
                        <a:t>Reinvestment Pool</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960" dirty="0">
                          <a:solidFill>
                            <a:srgbClr val="CBD5E1"/>
                          </a:solidFill>
                          <a:latin typeface="Segoe UI" pitchFamily="34" charset="0"/>
                          <a:ea typeface="Segoe UI" pitchFamily="34" charset="-122"/>
                          <a:cs typeface="Segoe UI" pitchFamily="34" charset="-120"/>
                        </a:rPr>
                        <a:t>—</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960" dirty="0">
                          <a:solidFill>
                            <a:srgbClr val="CBD5E1"/>
                          </a:solidFill>
                          <a:latin typeface="Segoe UI" pitchFamily="34" charset="0"/>
                          <a:ea typeface="Segoe UI" pitchFamily="34" charset="-122"/>
                          <a:cs typeface="Segoe UI" pitchFamily="34" charset="-120"/>
                        </a:rPr>
                        <a:t>$600M (available)</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indent="0" marL="0">
                        <a:buNone/>
                      </a:pPr>
                      <a:r>
                        <a:rPr lang="en-US" sz="960" dirty="0">
                          <a:solidFill>
                            <a:srgbClr val="10B981"/>
                          </a:solidFill>
                          <a:latin typeface="Segoe UI" pitchFamily="34" charset="0"/>
                          <a:ea typeface="Segoe UI" pitchFamily="34" charset="-122"/>
                          <a:cs typeface="Segoe UI" pitchFamily="34" charset="-120"/>
                        </a:rPr>
                        <a:t>+$600M (new construction)</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r>
              <a:tr h="384175">
                <a:tc>
                  <a:txBody>
                    <a:bodyPr/>
                    <a:lstStyle/>
                    <a:p>
                      <a:pPr indent="0" marL="0">
                        <a:buNone/>
                      </a:pPr>
                      <a:r>
                        <a:rPr lang="en-US" sz="960" b="1" dirty="0">
                          <a:solidFill>
                            <a:srgbClr val="CBD5E1"/>
                          </a:solidFill>
                          <a:latin typeface="Segoe UI" pitchFamily="34" charset="0"/>
                          <a:ea typeface="Segoe UI" pitchFamily="34" charset="-122"/>
                          <a:cs typeface="Segoe UI" pitchFamily="34" charset="-120"/>
                        </a:rPr>
                        <a:t>NET IMPACT (5-YEAR)</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60" b="1" dirty="0">
                          <a:solidFill>
                            <a:srgbClr val="CBD5E1"/>
                          </a:solidFill>
                          <a:latin typeface="Segoe UI" pitchFamily="34" charset="0"/>
                          <a:ea typeface="Segoe UI" pitchFamily="34" charset="-122"/>
                          <a:cs typeface="Segoe UI" pitchFamily="34" charset="-120"/>
                        </a:rPr>
                        <a:t>—</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60" b="1" dirty="0">
                          <a:solidFill>
                            <a:srgbClr val="CBD5E1"/>
                          </a:solidFill>
                          <a:latin typeface="Segoe UI" pitchFamily="34" charset="0"/>
                          <a:ea typeface="Segoe UI" pitchFamily="34" charset="-122"/>
                          <a:cs typeface="Segoe UI" pitchFamily="34" charset="-120"/>
                        </a:rPr>
                        <a:t>—</a:t>
                      </a:r>
                      <a:endParaRPr lang="en-US" sz="96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b="1" dirty="0">
                          <a:solidFill>
                            <a:srgbClr val="10B981"/>
                          </a:solidFill>
                          <a:latin typeface="Segoe UI" pitchFamily="34" charset="0"/>
                          <a:ea typeface="Segoe UI" pitchFamily="34" charset="-122"/>
                          <a:cs typeface="Segoe UI" pitchFamily="34" charset="-120"/>
                        </a:rPr>
                        <a:t>+$1.525B</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3" name="Text 0"/>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Fiscal Impact: City Budget Analysis</a:t>
            </a:r>
            <a:endParaRPr lang="en-US" sz="3000" dirty="0"/>
          </a:p>
        </p:txBody>
      </p:sp>
      <p:sp>
        <p:nvSpPr>
          <p:cNvPr id="4" name="Text 1"/>
          <p:cNvSpPr/>
          <p:nvPr/>
        </p:nvSpPr>
        <p:spPr>
          <a:xfrm>
            <a:off x="609600" y="3790950"/>
            <a:ext cx="8083296" cy="133350"/>
          </a:xfrm>
          <a:prstGeom prst="rect">
            <a:avLst/>
          </a:prstGeom>
          <a:noFill/>
          <a:ln/>
        </p:spPr>
        <p:txBody>
          <a:bodyPr wrap="square" lIns="0" tIns="0" rIns="0" bIns="0" rtlCol="0" anchor="t"/>
          <a:lstStyle/>
          <a:p>
            <a:pPr indent="0" marL="0">
              <a:lnSpc>
                <a:spcPts val="810"/>
              </a:lnSpc>
              <a:buNone/>
            </a:pPr>
            <a:r>
              <a:rPr lang="en-US" sz="900" b="1" dirty="0">
                <a:solidFill>
                  <a:srgbClr val="94A3B8"/>
                </a:solidFill>
                <a:latin typeface="Segoe UI" pitchFamily="34" charset="0"/>
                <a:ea typeface="Segoe UI" pitchFamily="34" charset="-122"/>
                <a:cs typeface="Segoe UI" pitchFamily="34" charset="-120"/>
              </a:rPr>
              <a:t>Conservative scenario:</a:t>
            </a:r>
            <a:pPr indent="0" marL="0">
              <a:lnSpc>
                <a:spcPts val="810"/>
              </a:lnSpc>
              <a:buNone/>
            </a:pPr>
            <a:r>
              <a:rPr lang="en-US" sz="900" dirty="0">
                <a:solidFill>
                  <a:srgbClr val="94A3B8"/>
                </a:solidFill>
                <a:latin typeface="Segoe UI" pitchFamily="34" charset="0"/>
                <a:ea typeface="Segoe UI" pitchFamily="34" charset="-122"/>
                <a:cs typeface="Segoe UI" pitchFamily="34" charset="-120"/>
              </a:rPr>
              <a:t> 50K HH enrollment by Year 5; 4% average equity growth; 15% admin overhead reduction.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238250" y="1802681"/>
            <a:ext cx="6667500" cy="2285851"/>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4" name="Text 1"/>
          <p:cNvSpPr/>
          <p:nvPr/>
        </p:nvSpPr>
        <p:spPr>
          <a:xfrm>
            <a:off x="1238250" y="659681"/>
            <a:ext cx="6667500" cy="914400"/>
          </a:xfrm>
          <a:prstGeom prst="rect">
            <a:avLst/>
          </a:prstGeom>
          <a:noFill/>
          <a:ln/>
        </p:spPr>
        <p:txBody>
          <a:bodyPr wrap="square" lIns="0" tIns="0" rIns="0" bIns="0" rtlCol="0" anchor="t"/>
          <a:lstStyle/>
          <a:p>
            <a:pPr algn="ct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Next Steps: Transition Team Action Plan</a:t>
            </a:r>
            <a:endParaRPr lang="en-US" sz="3000" dirty="0"/>
          </a:p>
        </p:txBody>
      </p:sp>
      <p:sp>
        <p:nvSpPr>
          <p:cNvPr id="5" name="Text 2"/>
          <p:cNvSpPr/>
          <p:nvPr/>
        </p:nvSpPr>
        <p:spPr>
          <a:xfrm>
            <a:off x="1809750" y="2031281"/>
            <a:ext cx="5867400" cy="1828651"/>
          </a:xfrm>
          <a:prstGeom prst="rect">
            <a:avLst/>
          </a:prstGeom>
          <a:noFill/>
          <a:ln/>
        </p:spPr>
        <p:txBody>
          <a:bodyPr wrap="square" lIns="0" tIns="0" rIns="0" bIns="0" rtlCol="0" anchor="t"/>
          <a:lstStyle/>
          <a:p>
            <a:pPr algn="ctr" marL="342900" indent="-342900">
              <a:lnSpc>
                <a:spcPts val="2160"/>
              </a:lnSpc>
              <a:buSzPct val="100000"/>
              <a:buChar char="•"/>
            </a:pPr>
            <a:r>
              <a:rPr lang="en-US" sz="1200" b="1" dirty="0">
                <a:solidFill>
                  <a:srgbClr val="CBD5E1"/>
                </a:solidFill>
                <a:latin typeface="Segoe UI" pitchFamily="34" charset="0"/>
                <a:ea typeface="Segoe UI" pitchFamily="34" charset="-122"/>
                <a:cs typeface="Segoe UI" pitchFamily="34" charset="-120"/>
              </a:rPr>
              <a:t>Convene HPD/HRA steering committee</a:t>
            </a:r>
            <a:pPr algn="ctr" indent="0" marL="0">
              <a:lnSpc>
                <a:spcPts val="2160"/>
              </a:lnSpc>
              <a:buNone/>
            </a:pPr>
            <a:r>
              <a:rPr lang="en-US" sz="1200" dirty="0">
                <a:solidFill>
                  <a:srgbClr val="CBD5E1"/>
                </a:solidFill>
                <a:latin typeface="Segoe UI" pitchFamily="34" charset="0"/>
                <a:ea typeface="Segoe UI" pitchFamily="34" charset="-122"/>
                <a:cs typeface="Segoe UI" pitchFamily="34" charset="-120"/>
              </a:rPr>
              <a:t> (by Jan. 15, 2026)</a:t>
            </a:r>
            <a:endParaRPr lang="en-US" sz="1200" dirty="0"/>
          </a:p>
          <a:p>
            <a:pPr algn="ctr" marL="342900" indent="-342900">
              <a:lnSpc>
                <a:spcPts val="2160"/>
              </a:lnSpc>
              <a:buSzPct val="100000"/>
              <a:buChar char="•"/>
            </a:pPr>
            <a:r>
              <a:rPr lang="en-US" sz="1200" b="1" dirty="0">
                <a:solidFill>
                  <a:srgbClr val="CBD5E1"/>
                </a:solidFill>
                <a:latin typeface="Segoe UI" pitchFamily="34" charset="0"/>
                <a:ea typeface="Segoe UI" pitchFamily="34" charset="-122"/>
                <a:cs typeface="Segoe UI" pitchFamily="34" charset="-120"/>
              </a:rPr>
              <a:t>Issue RFP for credit union partners</a:t>
            </a:r>
            <a:pPr algn="ctr" indent="0" marL="0">
              <a:lnSpc>
                <a:spcPts val="2160"/>
              </a:lnSpc>
              <a:buNone/>
            </a:pPr>
            <a:r>
              <a:rPr lang="en-US" sz="1200" dirty="0">
                <a:solidFill>
                  <a:srgbClr val="CBD5E1"/>
                </a:solidFill>
                <a:latin typeface="Segoe UI" pitchFamily="34" charset="0"/>
                <a:ea typeface="Segoe UI" pitchFamily="34" charset="-122"/>
                <a:cs typeface="Segoe UI" pitchFamily="34" charset="-120"/>
              </a:rPr>
              <a:t> (by Feb. 1, 2026)</a:t>
            </a:r>
            <a:endParaRPr lang="en-US" sz="1200" dirty="0"/>
          </a:p>
          <a:p>
            <a:pPr algn="ctr" marL="342900" indent="-342900">
              <a:lnSpc>
                <a:spcPts val="2160"/>
              </a:lnSpc>
              <a:buSzPct val="100000"/>
              <a:buChar char="•"/>
            </a:pPr>
            <a:r>
              <a:rPr lang="en-US" sz="1200" b="1" dirty="0">
                <a:solidFill>
                  <a:srgbClr val="CBD5E1"/>
                </a:solidFill>
                <a:latin typeface="Segoe UI" pitchFamily="34" charset="0"/>
                <a:ea typeface="Segoe UI" pitchFamily="34" charset="-122"/>
                <a:cs typeface="Segoe UI" pitchFamily="34" charset="-120"/>
              </a:rPr>
              <a:t>Finalize state legislation language</a:t>
            </a:r>
            <a:pPr algn="ctr" indent="0" marL="0">
              <a:lnSpc>
                <a:spcPts val="2160"/>
              </a:lnSpc>
              <a:buNone/>
            </a:pPr>
            <a:r>
              <a:rPr lang="en-US" sz="1200" dirty="0">
                <a:solidFill>
                  <a:srgbClr val="CBD5E1"/>
                </a:solidFill>
                <a:latin typeface="Segoe UI" pitchFamily="34" charset="0"/>
                <a:ea typeface="Segoe UI" pitchFamily="34" charset="-122"/>
                <a:cs typeface="Segoe UI" pitchFamily="34" charset="-120"/>
              </a:rPr>
              <a:t> (by March 1, 2026)</a:t>
            </a:r>
            <a:endParaRPr lang="en-US" sz="1200" dirty="0"/>
          </a:p>
          <a:p>
            <a:pPr algn="ctr" marL="342900" indent="-342900">
              <a:lnSpc>
                <a:spcPts val="2160"/>
              </a:lnSpc>
              <a:buSzPct val="100000"/>
              <a:buChar char="•"/>
            </a:pPr>
            <a:r>
              <a:rPr lang="en-US" sz="1200" b="1" dirty="0">
                <a:solidFill>
                  <a:srgbClr val="CBD5E1"/>
                </a:solidFill>
                <a:latin typeface="Segoe UI" pitchFamily="34" charset="0"/>
                <a:ea typeface="Segoe UI" pitchFamily="34" charset="-122"/>
                <a:cs typeface="Segoe UI" pitchFamily="34" charset="-120"/>
              </a:rPr>
              <a:t>Announce pilot districts</a:t>
            </a:r>
            <a:pPr algn="ctr" indent="0" marL="0">
              <a:lnSpc>
                <a:spcPts val="2160"/>
              </a:lnSpc>
              <a:buNone/>
            </a:pPr>
            <a:r>
              <a:rPr lang="en-US" sz="1200" dirty="0">
                <a:solidFill>
                  <a:srgbClr val="CBD5E1"/>
                </a:solidFill>
                <a:latin typeface="Segoe UI" pitchFamily="34" charset="0"/>
                <a:ea typeface="Segoe UI" pitchFamily="34" charset="-122"/>
                <a:cs typeface="Segoe UI" pitchFamily="34" charset="-120"/>
              </a:rPr>
              <a:t> (by April 1, 2026)</a:t>
            </a:r>
            <a:endParaRPr lang="en-US" sz="1200" dirty="0"/>
          </a:p>
          <a:p>
            <a:pPr algn="ctr" marL="342900" indent="-342900">
              <a:lnSpc>
                <a:spcPts val="2160"/>
              </a:lnSpc>
              <a:buSzPct val="100000"/>
              <a:buChar char="•"/>
            </a:pPr>
            <a:r>
              <a:rPr lang="en-US" sz="1200" b="1" dirty="0">
                <a:solidFill>
                  <a:srgbClr val="CBD5E1"/>
                </a:solidFill>
                <a:latin typeface="Segoe UI" pitchFamily="34" charset="0"/>
                <a:ea typeface="Segoe UI" pitchFamily="34" charset="-122"/>
                <a:cs typeface="Segoe UI" pitchFamily="34" charset="-120"/>
              </a:rPr>
              <a:t>Launch enrollment campaign</a:t>
            </a:r>
            <a:pPr algn="ctr" indent="0" marL="0">
              <a:lnSpc>
                <a:spcPts val="2160"/>
              </a:lnSpc>
              <a:buNone/>
            </a:pPr>
            <a:r>
              <a:rPr lang="en-US" sz="1200" dirty="0">
                <a:solidFill>
                  <a:srgbClr val="CBD5E1"/>
                </a:solidFill>
                <a:latin typeface="Segoe UI" pitchFamily="34" charset="0"/>
                <a:ea typeface="Segoe UI" pitchFamily="34" charset="-122"/>
                <a:cs typeface="Segoe UI" pitchFamily="34" charset="-120"/>
              </a:rPr>
              <a:t> (Summer 2026)</a:t>
            </a:r>
            <a:endParaRPr lang="en-US" sz="1200" dirty="0"/>
          </a:p>
        </p:txBody>
      </p:sp>
      <p:sp>
        <p:nvSpPr>
          <p:cNvPr id="6" name="Text 3"/>
          <p:cNvSpPr/>
          <p:nvPr/>
        </p:nvSpPr>
        <p:spPr>
          <a:xfrm>
            <a:off x="1171575" y="4317132"/>
            <a:ext cx="6800850" cy="166688"/>
          </a:xfrm>
          <a:prstGeom prst="rect">
            <a:avLst/>
          </a:prstGeom>
          <a:noFill/>
          <a:ln/>
        </p:spPr>
        <p:txBody>
          <a:bodyPr wrap="square" lIns="0" tIns="0" rIns="0" bIns="0" rtlCol="0" anchor="t"/>
          <a:lstStyle/>
          <a:p>
            <a:pPr algn="ctr" indent="0" marL="0">
              <a:lnSpc>
                <a:spcPts val="1026"/>
              </a:lnSpc>
              <a:buNone/>
            </a:pPr>
            <a:r>
              <a:rPr lang="en-US" sz="1140" b="1" dirty="0">
                <a:solidFill>
                  <a:srgbClr val="94A3B8"/>
                </a:solidFill>
                <a:latin typeface="Segoe UI" pitchFamily="34" charset="0"/>
                <a:ea typeface="Segoe UI" pitchFamily="34" charset="-122"/>
                <a:cs typeface="Segoe UI" pitchFamily="34" charset="-120"/>
              </a:rPr>
              <a:t>Estimated Setup Cost:</a:t>
            </a:r>
            <a:pPr algn="ctr" indent="0" marL="0">
              <a:lnSpc>
                <a:spcPts val="1026"/>
              </a:lnSpc>
              <a:buNone/>
            </a:pPr>
            <a:r>
              <a:rPr lang="en-US" sz="1140" dirty="0">
                <a:solidFill>
                  <a:srgbClr val="94A3B8"/>
                </a:solidFill>
                <a:latin typeface="Segoe UI" pitchFamily="34" charset="0"/>
                <a:ea typeface="Segoe UI" pitchFamily="34" charset="-122"/>
                <a:cs typeface="Segoe UI" pitchFamily="34" charset="-120"/>
              </a:rPr>
              <a:t> $45M (Year 1) | </a:t>
            </a:r>
            <a:pPr algn="ctr" indent="0" marL="0">
              <a:lnSpc>
                <a:spcPts val="1026"/>
              </a:lnSpc>
              <a:buNone/>
            </a:pPr>
            <a:r>
              <a:rPr lang="en-US" sz="1140" b="1" dirty="0">
                <a:solidFill>
                  <a:srgbClr val="94A3B8"/>
                </a:solidFill>
                <a:latin typeface="Segoe UI" pitchFamily="34" charset="0"/>
                <a:ea typeface="Segoe UI" pitchFamily="34" charset="-122"/>
                <a:cs typeface="Segoe UI" pitchFamily="34" charset="-120"/>
              </a:rPr>
              <a:t>ROI Breakeven:</a:t>
            </a:r>
            <a:pPr algn="ctr" indent="0" marL="0">
              <a:lnSpc>
                <a:spcPts val="1026"/>
              </a:lnSpc>
              <a:buNone/>
            </a:pPr>
            <a:r>
              <a:rPr lang="en-US" sz="1140" dirty="0">
                <a:solidFill>
                  <a:srgbClr val="94A3B8"/>
                </a:solidFill>
                <a:latin typeface="Segoe UI" pitchFamily="34" charset="0"/>
                <a:ea typeface="Segoe UI" pitchFamily="34" charset="-122"/>
                <a:cs typeface="Segoe UI" pitchFamily="34" charset="-120"/>
              </a:rPr>
              <a:t> Year 4 | </a:t>
            </a:r>
            <a:pPr algn="ctr" indent="0" marL="0">
              <a:lnSpc>
                <a:spcPts val="1026"/>
              </a:lnSpc>
              <a:buNone/>
            </a:pPr>
            <a:r>
              <a:rPr lang="en-US" sz="1140" b="1" dirty="0">
                <a:solidFill>
                  <a:srgbClr val="94A3B8"/>
                </a:solidFill>
                <a:latin typeface="Segoe UI" pitchFamily="34" charset="0"/>
                <a:ea typeface="Segoe UI" pitchFamily="34" charset="-122"/>
                <a:cs typeface="Segoe UI" pitchFamily="34" charset="-120"/>
              </a:rPr>
              <a:t>Net 10-Year Benefit:</a:t>
            </a:r>
            <a:pPr algn="ctr" indent="0" marL="0">
              <a:lnSpc>
                <a:spcPts val="1026"/>
              </a:lnSpc>
              <a:buNone/>
            </a:pPr>
            <a:r>
              <a:rPr lang="en-US" sz="1140" dirty="0">
                <a:solidFill>
                  <a:srgbClr val="94A3B8"/>
                </a:solidFill>
                <a:latin typeface="Segoe UI" pitchFamily="34" charset="0"/>
                <a:ea typeface="Segoe UI" pitchFamily="34" charset="-122"/>
                <a:cs typeface="Segoe UI" pitchFamily="34" charset="-120"/>
              </a:rPr>
              <a:t> $3.2B</a:t>
            </a:r>
            <a:endParaRPr lang="en-US" sz="11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Full Legislation, Research, &amp; Appendices</a:t>
            </a:r>
            <a:endParaRPr lang="en-US" sz="3000" dirty="0"/>
          </a:p>
        </p:txBody>
      </p:sp>
      <p:sp>
        <p:nvSpPr>
          <p:cNvPr id="3" name="Text 1"/>
          <p:cNvSpPr/>
          <p:nvPr/>
        </p:nvSpPr>
        <p:spPr>
          <a:xfrm>
            <a:off x="609600" y="1219200"/>
            <a:ext cx="8083296" cy="233139"/>
          </a:xfrm>
          <a:prstGeom prst="rect">
            <a:avLst/>
          </a:prstGeom>
          <a:noFill/>
          <a:ln/>
        </p:spPr>
        <p:txBody>
          <a:bodyPr wrap="square" lIns="0" tIns="0" rIns="0" bIns="0" rtlCol="0" anchor="t"/>
          <a:lstStyle/>
          <a:p>
            <a:pPr indent="0" marL="0">
              <a:lnSpc>
                <a:spcPts val="1836"/>
              </a:lnSpc>
              <a:buNone/>
            </a:pPr>
            <a:r>
              <a:rPr lang="en-US" sz="1020" dirty="0">
                <a:solidFill>
                  <a:srgbClr val="CBD5E1"/>
                </a:solidFill>
                <a:latin typeface="Segoe UI" pitchFamily="34" charset="0"/>
                <a:ea typeface="Segoe UI" pitchFamily="34" charset="-122"/>
                <a:cs typeface="Segoe UI" pitchFamily="34" charset="-120"/>
              </a:rPr>
              <a:t>Complete package includes:</a:t>
            </a:r>
            <a:endParaRPr lang="en-US" sz="1020" dirty="0"/>
          </a:p>
        </p:txBody>
      </p:sp>
      <p:sp>
        <p:nvSpPr>
          <p:cNvPr id="4" name="Text 2"/>
          <p:cNvSpPr/>
          <p:nvPr/>
        </p:nvSpPr>
        <p:spPr>
          <a:xfrm>
            <a:off x="914400" y="1604739"/>
            <a:ext cx="7620000" cy="1970336"/>
          </a:xfrm>
          <a:prstGeom prst="rect">
            <a:avLst/>
          </a:prstGeom>
          <a:noFill/>
          <a:ln/>
        </p:spPr>
        <p:txBody>
          <a:bodyPr wrap="square" lIns="0" tIns="0" rIns="0" bIns="0" rtlCol="0" anchor="t"/>
          <a:lstStyle/>
          <a:p>
            <a:pPr marL="342900" indent="-342900">
              <a:lnSpc>
                <a:spcPts val="1836"/>
              </a:lnSpc>
              <a:buSzPct val="100000"/>
              <a:buChar char="•"/>
            </a:pPr>
            <a:r>
              <a:rPr lang="en-US" sz="1020" b="1" dirty="0">
                <a:solidFill>
                  <a:srgbClr val="CBD5E1"/>
                </a:solidFill>
                <a:latin typeface="Segoe UI" pitchFamily="34" charset="0"/>
                <a:ea typeface="Segoe UI" pitchFamily="34" charset="-122"/>
                <a:cs typeface="Segoe UI" pitchFamily="34" charset="-120"/>
              </a:rPr>
              <a:t>Legislative Bill Text:</a:t>
            </a:r>
            <a:pPr indent="0" marL="0">
              <a:lnSpc>
                <a:spcPts val="1836"/>
              </a:lnSpc>
              <a:buNone/>
            </a:pPr>
            <a:r>
              <a:rPr lang="en-US" sz="1020" dirty="0">
                <a:solidFill>
                  <a:srgbClr val="CBD5E1"/>
                </a:solidFill>
                <a:latin typeface="Segoe UI" pitchFamily="34" charset="0"/>
                <a:ea typeface="Segoe UI" pitchFamily="34" charset="-122"/>
                <a:cs typeface="Segoe UI" pitchFamily="34" charset="-120"/>
              </a:rPr>
              <a:t> NYC Local Law (HPD authorization, HRA subsidy redirection)</a:t>
            </a:r>
            <a:endParaRPr lang="en-US" sz="1020" dirty="0"/>
          </a:p>
          <a:p>
            <a:pPr marL="342900" indent="-342900">
              <a:lnSpc>
                <a:spcPts val="1836"/>
              </a:lnSpc>
              <a:buSzPct val="100000"/>
              <a:buChar char="•"/>
            </a:pPr>
            <a:r>
              <a:rPr lang="en-US" sz="1020" b="1" dirty="0">
                <a:solidFill>
                  <a:srgbClr val="CBD5E1"/>
                </a:solidFill>
                <a:latin typeface="Segoe UI" pitchFamily="34" charset="0"/>
                <a:ea typeface="Segoe UI" pitchFamily="34" charset="-122"/>
                <a:cs typeface="Segoe UI" pitchFamily="34" charset="-120"/>
              </a:rPr>
              <a:t>Credit Union MOA Template:</a:t>
            </a:r>
            <a:pPr indent="0" marL="0">
              <a:lnSpc>
                <a:spcPts val="1836"/>
              </a:lnSpc>
              <a:buNone/>
            </a:pPr>
            <a:r>
              <a:rPr lang="en-US" sz="1020" dirty="0">
                <a:solidFill>
                  <a:srgbClr val="CBD5E1"/>
                </a:solidFill>
                <a:latin typeface="Segoe UI" pitchFamily="34" charset="0"/>
                <a:ea typeface="Segoe UI" pitchFamily="34" charset="-122"/>
                <a:cs typeface="Segoe UI" pitchFamily="34" charset="-120"/>
              </a:rPr>
              <a:t> Underwriting standards, fee structure, dispute resolution</a:t>
            </a:r>
            <a:endParaRPr lang="en-US" sz="1020" dirty="0"/>
          </a:p>
          <a:p>
            <a:pPr marL="342900" indent="-342900">
              <a:lnSpc>
                <a:spcPts val="1836"/>
              </a:lnSpc>
              <a:buSzPct val="100000"/>
              <a:buChar char="•"/>
            </a:pPr>
            <a:r>
              <a:rPr lang="en-US" sz="1020" b="1" dirty="0">
                <a:solidFill>
                  <a:srgbClr val="CBD5E1"/>
                </a:solidFill>
                <a:latin typeface="Segoe UI" pitchFamily="34" charset="0"/>
                <a:ea typeface="Segoe UI" pitchFamily="34" charset="-122"/>
                <a:cs typeface="Segoe UI" pitchFamily="34" charset="-120"/>
              </a:rPr>
              <a:t>APA 7th Edition Works Cited:</a:t>
            </a:r>
            <a:pPr indent="0" marL="0">
              <a:lnSpc>
                <a:spcPts val="1836"/>
              </a:lnSpc>
              <a:buNone/>
            </a:pPr>
            <a:r>
              <a:rPr lang="en-US" sz="1020" dirty="0">
                <a:solidFill>
                  <a:srgbClr val="CBD5E1"/>
                </a:solidFill>
                <a:latin typeface="Segoe UI" pitchFamily="34" charset="0"/>
                <a:ea typeface="Segoe UI" pitchFamily="34" charset="-122"/>
                <a:cs typeface="Segoe UI" pitchFamily="34" charset="-120"/>
              </a:rPr>
              <a:t> 120+ sources (housing policy, credit union economics, international models)</a:t>
            </a:r>
            <a:endParaRPr lang="en-US" sz="1020" dirty="0"/>
          </a:p>
          <a:p>
            <a:pPr marL="342900" indent="-342900">
              <a:lnSpc>
                <a:spcPts val="1836"/>
              </a:lnSpc>
              <a:buSzPct val="100000"/>
              <a:buChar char="•"/>
            </a:pPr>
            <a:r>
              <a:rPr lang="en-US" sz="1020" b="1" dirty="0">
                <a:solidFill>
                  <a:srgbClr val="CBD5E1"/>
                </a:solidFill>
                <a:latin typeface="Segoe UI" pitchFamily="34" charset="0"/>
                <a:ea typeface="Segoe UI" pitchFamily="34" charset="-122"/>
                <a:cs typeface="Segoe UI" pitchFamily="34" charset="-120"/>
              </a:rPr>
              <a:t>Equity Impact Assessment:</a:t>
            </a:r>
            <a:pPr indent="0" marL="0">
              <a:lnSpc>
                <a:spcPts val="1836"/>
              </a:lnSpc>
              <a:buNone/>
            </a:pPr>
            <a:r>
              <a:rPr lang="en-US" sz="1020" dirty="0">
                <a:solidFill>
                  <a:srgbClr val="CBD5E1"/>
                </a:solidFill>
                <a:latin typeface="Segoe UI" pitchFamily="34" charset="0"/>
                <a:ea typeface="Segoe UI" pitchFamily="34" charset="-122"/>
                <a:cs typeface="Segoe UI" pitchFamily="34" charset="-120"/>
              </a:rPr>
              <a:t> Disaggregated analysis by race, income, borough, disability status</a:t>
            </a:r>
            <a:endParaRPr lang="en-US" sz="1020" dirty="0"/>
          </a:p>
          <a:p>
            <a:pPr marL="342900" indent="-342900">
              <a:lnSpc>
                <a:spcPts val="1836"/>
              </a:lnSpc>
              <a:buSzPct val="100000"/>
              <a:buChar char="•"/>
            </a:pPr>
            <a:r>
              <a:rPr lang="en-US" sz="1020" b="1" dirty="0">
                <a:solidFill>
                  <a:srgbClr val="CBD5E1"/>
                </a:solidFill>
                <a:latin typeface="Segoe UI" pitchFamily="34" charset="0"/>
                <a:ea typeface="Segoe UI" pitchFamily="34" charset="-122"/>
                <a:cs typeface="Segoe UI" pitchFamily="34" charset="-120"/>
              </a:rPr>
              <a:t>Financial Models:</a:t>
            </a:r>
            <a:pPr indent="0" marL="0">
              <a:lnSpc>
                <a:spcPts val="1836"/>
              </a:lnSpc>
              <a:buNone/>
            </a:pPr>
            <a:r>
              <a:rPr lang="en-US" sz="1020" dirty="0">
                <a:solidFill>
                  <a:srgbClr val="CBD5E1"/>
                </a:solidFill>
                <a:latin typeface="Segoe UI" pitchFamily="34" charset="0"/>
                <a:ea typeface="Segoe UI" pitchFamily="34" charset="-122"/>
                <a:cs typeface="Segoe UI" pitchFamily="34" charset="-120"/>
              </a:rPr>
              <a:t> Sensitivity analysis (discount rates, default assumptions, inflation scenarios)</a:t>
            </a:r>
            <a:endParaRPr lang="en-US" sz="1020" dirty="0"/>
          </a:p>
          <a:p>
            <a:pPr marL="342900" indent="-342900">
              <a:lnSpc>
                <a:spcPts val="1836"/>
              </a:lnSpc>
              <a:buSzPct val="100000"/>
              <a:buChar char="•"/>
            </a:pPr>
            <a:r>
              <a:rPr lang="en-US" sz="1020" b="1" dirty="0">
                <a:solidFill>
                  <a:srgbClr val="CBD5E1"/>
                </a:solidFill>
                <a:latin typeface="Segoe UI" pitchFamily="34" charset="0"/>
                <a:ea typeface="Segoe UI" pitchFamily="34" charset="-122"/>
                <a:cs typeface="Segoe UI" pitchFamily="34" charset="-120"/>
              </a:rPr>
              <a:t>One-Pager &amp; Memo:</a:t>
            </a:r>
            <a:pPr indent="0" marL="0">
              <a:lnSpc>
                <a:spcPts val="1836"/>
              </a:lnSpc>
              <a:buNone/>
            </a:pPr>
            <a:r>
              <a:rPr lang="en-US" sz="1020" dirty="0">
                <a:solidFill>
                  <a:srgbClr val="CBD5E1"/>
                </a:solidFill>
                <a:latin typeface="Segoe UI" pitchFamily="34" charset="0"/>
                <a:ea typeface="Segoe UI" pitchFamily="34" charset="-122"/>
                <a:cs typeface="Segoe UI" pitchFamily="34" charset="-120"/>
              </a:rPr>
              <a:t> Mayor-elect transition briefing (next pages)</a:t>
            </a:r>
            <a:endParaRPr lang="en-US" sz="10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609600" y="609600"/>
            <a:ext cx="8083296" cy="133350"/>
          </a:xfrm>
          <a:prstGeom prst="rect">
            <a:avLst/>
          </a:prstGeom>
          <a:noFill/>
          <a:ln/>
        </p:spPr>
        <p:txBody>
          <a:bodyPr wrap="square" lIns="0" tIns="0" rIns="0" bIns="0" rtlCol="0" anchor="t"/>
          <a:lstStyle/>
          <a:p>
            <a:pPr indent="0" marL="0">
              <a:lnSpc>
                <a:spcPts val="810"/>
              </a:lnSpc>
              <a:buNone/>
            </a:pPr>
            <a:r>
              <a:rPr lang="en-US" sz="900" dirty="0">
                <a:solidFill>
                  <a:srgbClr val="94A3B8"/>
                </a:solidFill>
                <a:latin typeface="Segoe UI" pitchFamily="34" charset="0"/>
                <a:ea typeface="Segoe UI" pitchFamily="34" charset="-122"/>
                <a:cs typeface="Segoe UI" pitchFamily="34" charset="-120"/>
              </a:rPr>
              <a:t>MEMORANDUM</a:t>
            </a:r>
            <a:endParaRPr lang="en-US" sz="900" dirty="0"/>
          </a:p>
        </p:txBody>
      </p:sp>
      <p:sp>
        <p:nvSpPr>
          <p:cNvPr id="4" name="Text 1"/>
          <p:cNvSpPr/>
          <p:nvPr/>
        </p:nvSpPr>
        <p:spPr>
          <a:xfrm>
            <a:off x="609600" y="819150"/>
            <a:ext cx="8083296" cy="274290"/>
          </a:xfrm>
          <a:prstGeom prst="rect">
            <a:avLst/>
          </a:prstGeom>
          <a:noFill/>
          <a:ln/>
        </p:spPr>
        <p:txBody>
          <a:bodyPr wrap="square" lIns="0" tIns="0" rIns="0" bIns="0" rtlCol="0" anchor="t"/>
          <a:lstStyle/>
          <a:p>
            <a:pPr indent="0" marL="0">
              <a:lnSpc>
                <a:spcPts val="2160"/>
              </a:lnSpc>
              <a:buNone/>
            </a:pPr>
            <a:r>
              <a:rPr lang="en-US" sz="1800" b="1" dirty="0">
                <a:solidFill>
                  <a:srgbClr val="F1F5F9"/>
                </a:solidFill>
                <a:latin typeface="Segoe UI" pitchFamily="34" charset="0"/>
                <a:ea typeface="Segoe UI" pitchFamily="34" charset="-122"/>
                <a:cs typeface="Segoe UI" pitchFamily="34" charset="-120"/>
              </a:rPr>
              <a:t>NYC Housing Subsidy Reform Proposal</a:t>
            </a:r>
            <a:endParaRPr lang="en-US" sz="1800" dirty="0"/>
          </a:p>
        </p:txBody>
      </p:sp>
      <p:sp>
        <p:nvSpPr>
          <p:cNvPr id="5" name="Text 2"/>
          <p:cNvSpPr/>
          <p:nvPr/>
        </p:nvSpPr>
        <p:spPr>
          <a:xfrm>
            <a:off x="609600" y="1169640"/>
            <a:ext cx="8083296" cy="152400"/>
          </a:xfrm>
          <a:prstGeom prst="rect">
            <a:avLst/>
          </a:prstGeom>
          <a:noFill/>
          <a:ln/>
        </p:spPr>
        <p:txBody>
          <a:bodyPr wrap="square" lIns="0" tIns="0" rIns="0" bIns="0" rtlCol="0" anchor="t"/>
          <a:lstStyle/>
          <a:p>
            <a:pPr indent="0" marL="0">
              <a:lnSpc>
                <a:spcPts val="918"/>
              </a:lnSpc>
              <a:buNone/>
            </a:pPr>
            <a:r>
              <a:rPr lang="en-US" sz="1020" dirty="0">
                <a:solidFill>
                  <a:srgbClr val="CBD5E1"/>
                </a:solidFill>
                <a:latin typeface="Segoe UI" pitchFamily="34" charset="0"/>
                <a:ea typeface="Segoe UI" pitchFamily="34" charset="-122"/>
                <a:cs typeface="Segoe UI" pitchFamily="34" charset="-120"/>
              </a:rPr>
              <a:t>TO: Mayor-Elect Transition Team | FROM: NYC Policy Analysis &amp; HousingPolicyResearch | DATE: December 2025</a:t>
            </a:r>
            <a:endParaRPr lang="en-US" sz="1020" dirty="0"/>
          </a:p>
        </p:txBody>
      </p:sp>
      <p:sp>
        <p:nvSpPr>
          <p:cNvPr id="6" name="Text 3"/>
          <p:cNvSpPr/>
          <p:nvPr/>
        </p:nvSpPr>
        <p:spPr>
          <a:xfrm>
            <a:off x="609600" y="1722090"/>
            <a:ext cx="8083296" cy="207169"/>
          </a:xfrm>
          <a:prstGeom prst="rect">
            <a:avLst/>
          </a:prstGeom>
          <a:noFill/>
          <a:ln/>
        </p:spPr>
        <p:txBody>
          <a:bodyPr wrap="square" lIns="0" tIns="0" rIns="0" bIns="0" rtlCol="0" anchor="t"/>
          <a:lstStyle/>
          <a:p>
            <a:pPr indent="0" marL="0">
              <a:lnSpc>
                <a:spcPts val="1632"/>
              </a:lnSpc>
              <a:buNone/>
            </a:pPr>
            <a:r>
              <a:rPr lang="en-US" sz="960" b="1" dirty="0">
                <a:solidFill>
                  <a:srgbClr val="06B6D4"/>
                </a:solidFill>
                <a:latin typeface="Segoe UI" pitchFamily="34" charset="0"/>
                <a:ea typeface="Segoe UI" pitchFamily="34" charset="-122"/>
                <a:cs typeface="Segoe UI" pitchFamily="34" charset="-120"/>
              </a:rPr>
              <a:t>SUBJECT:</a:t>
            </a:r>
            <a:pPr indent="0" marL="0">
              <a:lnSpc>
                <a:spcPts val="1632"/>
              </a:lnSpc>
              <a:buNone/>
            </a:pPr>
            <a:r>
              <a:rPr lang="en-US" sz="960" dirty="0">
                <a:solidFill>
                  <a:srgbClr val="CBD5E1"/>
                </a:solidFill>
                <a:latin typeface="Segoe UI" pitchFamily="34" charset="0"/>
                <a:ea typeface="Segoe UI" pitchFamily="34" charset="-122"/>
                <a:cs typeface="Segoe UI" pitchFamily="34" charset="-120"/>
              </a:rPr>
              <a:t> Public Equity Transfer (PET) Framework—Recommendation for Immediate Action</a:t>
            </a:r>
            <a:endParaRPr lang="en-US" sz="960" dirty="0"/>
          </a:p>
        </p:txBody>
      </p:sp>
      <p:sp>
        <p:nvSpPr>
          <p:cNvPr id="7" name="Text 4"/>
          <p:cNvSpPr/>
          <p:nvPr/>
        </p:nvSpPr>
        <p:spPr>
          <a:xfrm>
            <a:off x="609600" y="2081659"/>
            <a:ext cx="7924800" cy="414338"/>
          </a:xfrm>
          <a:prstGeom prst="rect">
            <a:avLst/>
          </a:prstGeom>
          <a:noFill/>
          <a:ln/>
        </p:spPr>
        <p:txBody>
          <a:bodyPr wrap="square" lIns="0" tIns="0" rIns="0" bIns="0" rtlCol="0" anchor="t"/>
          <a:lstStyle/>
          <a:p>
            <a:pPr indent="0" marL="0">
              <a:lnSpc>
                <a:spcPts val="1632"/>
              </a:lnSpc>
              <a:buNone/>
            </a:pPr>
            <a:r>
              <a:rPr lang="en-US" sz="960" b="1" dirty="0">
                <a:solidFill>
                  <a:srgbClr val="CBD5E1"/>
                </a:solidFill>
                <a:latin typeface="Segoe UI" pitchFamily="34" charset="0"/>
                <a:ea typeface="Segoe UI" pitchFamily="34" charset="-122"/>
                <a:cs typeface="Segoe UI" pitchFamily="34" charset="-120"/>
              </a:rPr>
              <a:t>SITUATION:</a:t>
            </a:r>
            <a:pPr indent="0" marL="0">
              <a:lnSpc>
                <a:spcPts val="1632"/>
              </a:lnSpc>
              <a:buNone/>
            </a:pPr>
            <a:r>
              <a:rPr lang="en-US" sz="960" dirty="0">
                <a:solidFill>
                  <a:srgbClr val="CBD5E1"/>
                </a:solidFill>
                <a:latin typeface="Segoe UI" pitchFamily="34" charset="0"/>
                <a:ea typeface="Segoe UI" pitchFamily="34" charset="-122"/>
                <a:cs typeface="Segoe UI" pitchFamily="34" charset="-120"/>
              </a:rPr>
              <a:t> NYC spends $5.7B annually on rental subsidies serving 455K households. Zero of this generates tenant ownership or equity accumulation. Vienna, by contrast, achieves superior affordability outcomes through public ownership at the same cost level.</a:t>
            </a:r>
            <a:endParaRPr lang="en-US" sz="960" dirty="0"/>
          </a:p>
        </p:txBody>
      </p:sp>
      <p:sp>
        <p:nvSpPr>
          <p:cNvPr id="8" name="Text 5"/>
          <p:cNvSpPr/>
          <p:nvPr/>
        </p:nvSpPr>
        <p:spPr>
          <a:xfrm>
            <a:off x="609600" y="2495996"/>
            <a:ext cx="7924800" cy="414338"/>
          </a:xfrm>
          <a:prstGeom prst="rect">
            <a:avLst/>
          </a:prstGeom>
          <a:noFill/>
          <a:ln/>
        </p:spPr>
        <p:txBody>
          <a:bodyPr wrap="square" lIns="0" tIns="0" rIns="0" bIns="0" rtlCol="0" anchor="t"/>
          <a:lstStyle/>
          <a:p>
            <a:pPr indent="0" marL="0">
              <a:lnSpc>
                <a:spcPts val="1632"/>
              </a:lnSpc>
              <a:buNone/>
            </a:pPr>
            <a:r>
              <a:rPr lang="en-US" sz="960" b="1" dirty="0">
                <a:solidFill>
                  <a:srgbClr val="CBD5E1"/>
                </a:solidFill>
                <a:latin typeface="Segoe UI" pitchFamily="34" charset="0"/>
                <a:ea typeface="Segoe UI" pitchFamily="34" charset="-122"/>
                <a:cs typeface="Segoe UI" pitchFamily="34" charset="-120"/>
              </a:rPr>
              <a:t>RECOMMENDATION:</a:t>
            </a:r>
            <a:pPr indent="0" marL="0">
              <a:lnSpc>
                <a:spcPts val="1632"/>
              </a:lnSpc>
              <a:buNone/>
            </a:pPr>
            <a:r>
              <a:rPr lang="en-US" sz="960" dirty="0">
                <a:solidFill>
                  <a:srgbClr val="CBD5E1"/>
                </a:solidFill>
                <a:latin typeface="Segoe UI" pitchFamily="34" charset="0"/>
                <a:ea typeface="Segoe UI" pitchFamily="34" charset="-122"/>
                <a:cs typeface="Segoe UI" pitchFamily="34" charset="-120"/>
              </a:rPr>
              <a:t> Launch PET pilot in 2-3 high-need districts by Q2 2026. This preserves existing HRA/HPD budgets while creating sustainable, permanent affordability and $600K+ intergenerational wealth per household.</a:t>
            </a:r>
            <a:endParaRPr lang="en-US" sz="960" dirty="0"/>
          </a:p>
        </p:txBody>
      </p:sp>
      <p:sp>
        <p:nvSpPr>
          <p:cNvPr id="9" name="Text 6"/>
          <p:cNvSpPr/>
          <p:nvPr/>
        </p:nvSpPr>
        <p:spPr>
          <a:xfrm>
            <a:off x="609600" y="2910334"/>
            <a:ext cx="8083296" cy="207169"/>
          </a:xfrm>
          <a:prstGeom prst="rect">
            <a:avLst/>
          </a:prstGeom>
          <a:noFill/>
          <a:ln/>
        </p:spPr>
        <p:txBody>
          <a:bodyPr wrap="square" lIns="0" tIns="0" rIns="0" bIns="0" rtlCol="0" anchor="t"/>
          <a:lstStyle/>
          <a:p>
            <a:pPr indent="0" marL="0">
              <a:lnSpc>
                <a:spcPts val="1632"/>
              </a:lnSpc>
              <a:buNone/>
            </a:pPr>
            <a:r>
              <a:rPr lang="en-US" sz="960" b="1" dirty="0">
                <a:solidFill>
                  <a:srgbClr val="CBD5E1"/>
                </a:solidFill>
                <a:latin typeface="Segoe UI" pitchFamily="34" charset="0"/>
                <a:ea typeface="Segoe UI" pitchFamily="34" charset="-122"/>
                <a:cs typeface="Segoe UI" pitchFamily="34" charset="-120"/>
              </a:rPr>
              <a:t>FISCAL IMPACT:</a:t>
            </a:r>
            <a:pPr indent="0" marL="0">
              <a:lnSpc>
                <a:spcPts val="1632"/>
              </a:lnSpc>
              <a:buNone/>
            </a:pPr>
            <a:r>
              <a:rPr lang="en-US" sz="960" dirty="0">
                <a:solidFill>
                  <a:srgbClr val="CBD5E1"/>
                </a:solidFill>
                <a:latin typeface="Segoe UI" pitchFamily="34" charset="0"/>
                <a:ea typeface="Segoe UI" pitchFamily="34" charset="-122"/>
                <a:cs typeface="Segoe UI" pitchFamily="34" charset="-120"/>
              </a:rPr>
              <a:t> Breakeven by Year 4; $3.2B cumulative net benefit over 10 years.</a:t>
            </a:r>
            <a:endParaRPr lang="en-US" sz="960" dirty="0"/>
          </a:p>
        </p:txBody>
      </p:sp>
      <p:sp>
        <p:nvSpPr>
          <p:cNvPr id="10" name="Text 7"/>
          <p:cNvSpPr/>
          <p:nvPr/>
        </p:nvSpPr>
        <p:spPr>
          <a:xfrm>
            <a:off x="609600" y="3117503"/>
            <a:ext cx="8083296" cy="207169"/>
          </a:xfrm>
          <a:prstGeom prst="rect">
            <a:avLst/>
          </a:prstGeom>
          <a:noFill/>
          <a:ln/>
        </p:spPr>
        <p:txBody>
          <a:bodyPr wrap="square" lIns="0" tIns="0" rIns="0" bIns="0" rtlCol="0" anchor="t"/>
          <a:lstStyle/>
          <a:p>
            <a:pPr indent="0" marL="0">
              <a:lnSpc>
                <a:spcPts val="1632"/>
              </a:lnSpc>
              <a:buNone/>
            </a:pPr>
            <a:r>
              <a:rPr lang="en-US" sz="960" b="1" dirty="0">
                <a:solidFill>
                  <a:srgbClr val="CBD5E1"/>
                </a:solidFill>
                <a:latin typeface="Segoe UI" pitchFamily="34" charset="0"/>
                <a:ea typeface="Segoe UI" pitchFamily="34" charset="-122"/>
                <a:cs typeface="Segoe UI" pitchFamily="34" charset="-120"/>
              </a:rPr>
              <a:t>NEXT STEP:</a:t>
            </a:r>
            <a:pPr indent="0" marL="0">
              <a:lnSpc>
                <a:spcPts val="1632"/>
              </a:lnSpc>
              <a:buNone/>
            </a:pPr>
            <a:r>
              <a:rPr lang="en-US" sz="960" dirty="0">
                <a:solidFill>
                  <a:srgbClr val="CBD5E1"/>
                </a:solidFill>
                <a:latin typeface="Segoe UI" pitchFamily="34" charset="0"/>
                <a:ea typeface="Segoe UI" pitchFamily="34" charset="-122"/>
                <a:cs typeface="Segoe UI" pitchFamily="34" charset="-120"/>
              </a:rPr>
              <a:t> Convene HPD/HRA by January 15, 2026.</a:t>
            </a:r>
            <a:endParaRPr lang="en-US" sz="9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2567806"/>
            <a:ext cx="7924800" cy="689521"/>
          </a:xfrm>
          <a:prstGeom prst="rect">
            <a:avLst/>
          </a:prstGeom>
          <a:solidFill>
            <a:srgbClr val="1E293B"/>
          </a:solidFill>
          <a:ln w="9525">
            <a:solidFill>
              <a:srgbClr val="334155"/>
            </a:solidFill>
          </a:ln>
        </p:spPr>
        <p:txBody>
          <a:bodyPr wrap="none" lIns="0" tIns="0" rIns="0" bIns="0" rtlCol="0" anchor="ctr">
            <a:normAutofit/>
          </a:bodyPr>
          <a:lstStyle/>
          <a:p>
            <a:pPr indent="0" marL="0">
              <a:buNone/>
            </a:pPr>
            <a:endParaRPr lang="en-US" dirty="0"/>
          </a:p>
        </p:txBody>
      </p:sp>
      <p:sp>
        <p:nvSpPr>
          <p:cNvPr id="3" name="Text 1"/>
          <p:cNvSpPr/>
          <p:nvPr/>
        </p:nvSpPr>
        <p:spPr>
          <a:xfrm>
            <a:off x="609600" y="609600"/>
            <a:ext cx="8083296" cy="228600"/>
          </a:xfrm>
          <a:prstGeom prst="rect">
            <a:avLst/>
          </a:prstGeom>
          <a:noFill/>
          <a:ln/>
        </p:spPr>
        <p:txBody>
          <a:bodyPr wrap="square" lIns="0" tIns="0" rIns="0" bIns="0" rtlCol="0" anchor="t"/>
          <a:lstStyle/>
          <a:p>
            <a:pPr indent="0" marL="0">
              <a:lnSpc>
                <a:spcPts val="1800"/>
              </a:lnSpc>
              <a:buNone/>
            </a:pPr>
            <a:r>
              <a:rPr lang="en-US" sz="1500" b="1" dirty="0">
                <a:solidFill>
                  <a:srgbClr val="06B6D4"/>
                </a:solidFill>
                <a:latin typeface="Segoe UI" pitchFamily="34" charset="0"/>
                <a:ea typeface="Segoe UI" pitchFamily="34" charset="-122"/>
                <a:cs typeface="Segoe UI" pitchFamily="34" charset="-120"/>
              </a:rPr>
              <a:t>NYC HOUSING SUBSIDY REFORM: PUBLIC EQUITY TRANSFER FRAMEWORK (PET)</a:t>
            </a:r>
            <a:endParaRPr lang="en-US" sz="1500" dirty="0"/>
          </a:p>
        </p:txBody>
      </p:sp>
      <p:sp>
        <p:nvSpPr>
          <p:cNvPr id="4" name="Text 2"/>
          <p:cNvSpPr/>
          <p:nvPr/>
        </p:nvSpPr>
        <p:spPr>
          <a:xfrm>
            <a:off x="609600" y="952500"/>
            <a:ext cx="8083296" cy="228600"/>
          </a:xfrm>
          <a:prstGeom prst="rect">
            <a:avLst/>
          </a:prstGeom>
          <a:noFill/>
          <a:ln/>
        </p:spPr>
        <p:txBody>
          <a:bodyPr wrap="square" lIns="0" tIns="0" rIns="0" bIns="0" rtlCol="0" anchor="t"/>
          <a:lstStyle/>
          <a:p>
            <a:pPr indent="0" marL="0">
              <a:lnSpc>
                <a:spcPts val="1800"/>
              </a:lnSpc>
              <a:buNone/>
            </a:pPr>
            <a:r>
              <a:rPr lang="en-US" sz="1500" b="1" dirty="0">
                <a:solidFill>
                  <a:srgbClr val="06B6D4"/>
                </a:solidFill>
                <a:latin typeface="Segoe UI" pitchFamily="34" charset="0"/>
                <a:ea typeface="Segoe UI" pitchFamily="34" charset="-122"/>
                <a:cs typeface="Segoe UI" pitchFamily="34" charset="-120"/>
              </a:rPr>
              <a:t>THE PROBLEM</a:t>
            </a:r>
            <a:endParaRPr lang="en-US" sz="1500" dirty="0"/>
          </a:p>
        </p:txBody>
      </p:sp>
      <p:sp>
        <p:nvSpPr>
          <p:cNvPr id="5" name="Text 3"/>
          <p:cNvSpPr/>
          <p:nvPr/>
        </p:nvSpPr>
        <p:spPr>
          <a:xfrm>
            <a:off x="609600" y="1257300"/>
            <a:ext cx="8083296" cy="182835"/>
          </a:xfrm>
          <a:prstGeom prst="rect">
            <a:avLst/>
          </a:prstGeom>
          <a:noFill/>
          <a:ln/>
        </p:spPr>
        <p:txBody>
          <a:bodyPr wrap="square" lIns="0" tIns="0" rIns="0" bIns="0" rtlCol="0" anchor="t"/>
          <a:lstStyle/>
          <a:p>
            <a:pPr indent="0" marL="0">
              <a:lnSpc>
                <a:spcPts val="1440"/>
              </a:lnSpc>
              <a:buNone/>
            </a:pPr>
            <a:r>
              <a:rPr lang="en-US" sz="900" dirty="0">
                <a:solidFill>
                  <a:srgbClr val="CBD5E1"/>
                </a:solidFill>
                <a:latin typeface="Segoe UI" pitchFamily="34" charset="0"/>
                <a:ea typeface="Segoe UI" pitchFamily="34" charset="-122"/>
                <a:cs typeface="Segoe UI" pitchFamily="34" charset="-120"/>
              </a:rPr>
              <a:t>$5.7B annual subsidy spend → 0% equity accrual. Families cycle through housing indefinitely, building zero wealth.</a:t>
            </a:r>
            <a:endParaRPr lang="en-US" sz="900" dirty="0"/>
          </a:p>
        </p:txBody>
      </p:sp>
      <p:sp>
        <p:nvSpPr>
          <p:cNvPr id="6" name="Text 4"/>
          <p:cNvSpPr/>
          <p:nvPr/>
        </p:nvSpPr>
        <p:spPr>
          <a:xfrm>
            <a:off x="609600" y="1440135"/>
            <a:ext cx="8083296" cy="228600"/>
          </a:xfrm>
          <a:prstGeom prst="rect">
            <a:avLst/>
          </a:prstGeom>
          <a:noFill/>
          <a:ln/>
        </p:spPr>
        <p:txBody>
          <a:bodyPr wrap="square" lIns="0" tIns="0" rIns="0" bIns="0" rtlCol="0" anchor="t"/>
          <a:lstStyle/>
          <a:p>
            <a:pPr indent="0" marL="0">
              <a:lnSpc>
                <a:spcPts val="1800"/>
              </a:lnSpc>
              <a:buNone/>
            </a:pPr>
            <a:r>
              <a:rPr lang="en-US" sz="1500" b="1" dirty="0">
                <a:solidFill>
                  <a:srgbClr val="10B981"/>
                </a:solidFill>
                <a:latin typeface="Segoe UI" pitchFamily="34" charset="0"/>
                <a:ea typeface="Segoe UI" pitchFamily="34" charset="-122"/>
                <a:cs typeface="Segoe UI" pitchFamily="34" charset="-120"/>
              </a:rPr>
              <a:t>THE SOLUTION</a:t>
            </a:r>
            <a:endParaRPr lang="en-US" sz="1500" dirty="0"/>
          </a:p>
        </p:txBody>
      </p:sp>
      <p:sp>
        <p:nvSpPr>
          <p:cNvPr id="7" name="Text 5"/>
          <p:cNvSpPr/>
          <p:nvPr/>
        </p:nvSpPr>
        <p:spPr>
          <a:xfrm>
            <a:off x="609600" y="1744935"/>
            <a:ext cx="8083296" cy="182835"/>
          </a:xfrm>
          <a:prstGeom prst="rect">
            <a:avLst/>
          </a:prstGeom>
          <a:noFill/>
          <a:ln/>
        </p:spPr>
        <p:txBody>
          <a:bodyPr wrap="square" lIns="0" tIns="0" rIns="0" bIns="0" rtlCol="0" anchor="t"/>
          <a:lstStyle/>
          <a:p>
            <a:pPr indent="0" marL="0">
              <a:lnSpc>
                <a:spcPts val="1440"/>
              </a:lnSpc>
              <a:buNone/>
            </a:pPr>
            <a:r>
              <a:rPr lang="en-US" sz="900" dirty="0">
                <a:solidFill>
                  <a:srgbClr val="CBD5E1"/>
                </a:solidFill>
                <a:latin typeface="Segoe UI" pitchFamily="34" charset="0"/>
                <a:ea typeface="Segoe UI" pitchFamily="34" charset="-122"/>
                <a:cs typeface="Segoe UI" pitchFamily="34" charset="-120"/>
              </a:rPr>
              <a:t>Redirect subsidies into tenant-owned credit union equity reserves (TCAP). Generate $600K+ ownership per household in 30 years.</a:t>
            </a:r>
            <a:endParaRPr lang="en-US" sz="900" dirty="0"/>
          </a:p>
        </p:txBody>
      </p:sp>
      <p:sp>
        <p:nvSpPr>
          <p:cNvPr id="8" name="Text 6"/>
          <p:cNvSpPr/>
          <p:nvPr/>
        </p:nvSpPr>
        <p:spPr>
          <a:xfrm>
            <a:off x="609600" y="1927771"/>
            <a:ext cx="8083296" cy="228600"/>
          </a:xfrm>
          <a:prstGeom prst="rect">
            <a:avLst/>
          </a:prstGeom>
          <a:noFill/>
          <a:ln/>
        </p:spPr>
        <p:txBody>
          <a:bodyPr wrap="square" lIns="0" tIns="0" rIns="0" bIns="0" rtlCol="0" anchor="t"/>
          <a:lstStyle/>
          <a:p>
            <a:pPr indent="0" marL="0">
              <a:lnSpc>
                <a:spcPts val="1800"/>
              </a:lnSpc>
              <a:buNone/>
            </a:pPr>
            <a:r>
              <a:rPr lang="en-US" sz="1500" b="1" dirty="0">
                <a:solidFill>
                  <a:srgbClr val="F59E0B"/>
                </a:solidFill>
                <a:latin typeface="Segoe UI" pitchFamily="34" charset="0"/>
                <a:ea typeface="Segoe UI" pitchFamily="34" charset="-122"/>
                <a:cs typeface="Segoe UI" pitchFamily="34" charset="-120"/>
              </a:rPr>
              <a:t>THE ROI</a:t>
            </a:r>
            <a:endParaRPr lang="en-US" sz="1500" dirty="0"/>
          </a:p>
        </p:txBody>
      </p:sp>
      <p:sp>
        <p:nvSpPr>
          <p:cNvPr id="9" name="Text 7"/>
          <p:cNvSpPr/>
          <p:nvPr/>
        </p:nvSpPr>
        <p:spPr>
          <a:xfrm>
            <a:off x="609600" y="2232571"/>
            <a:ext cx="8083296" cy="182835"/>
          </a:xfrm>
          <a:prstGeom prst="rect">
            <a:avLst/>
          </a:prstGeom>
          <a:noFill/>
          <a:ln/>
        </p:spPr>
        <p:txBody>
          <a:bodyPr wrap="square" lIns="0" tIns="0" rIns="0" bIns="0" rtlCol="0" anchor="t"/>
          <a:lstStyle/>
          <a:p>
            <a:pPr indent="0" marL="0">
              <a:lnSpc>
                <a:spcPts val="1440"/>
              </a:lnSpc>
              <a:buNone/>
            </a:pPr>
            <a:r>
              <a:rPr lang="en-US" sz="900" dirty="0">
                <a:solidFill>
                  <a:srgbClr val="CBD5E1"/>
                </a:solidFill>
                <a:latin typeface="Segoe UI" pitchFamily="34" charset="0"/>
                <a:ea typeface="Segoe UI" pitchFamily="34" charset="-122"/>
                <a:cs typeface="Segoe UI" pitchFamily="34" charset="-120"/>
              </a:rPr>
              <a:t>35% cost reduction + $600M annual reinvestment pool + closing racial wealth gap. Breakeven Year 4.</a:t>
            </a:r>
            <a:endParaRPr lang="en-US" sz="900" dirty="0"/>
          </a:p>
        </p:txBody>
      </p:sp>
      <p:sp>
        <p:nvSpPr>
          <p:cNvPr id="10" name="Text 8"/>
          <p:cNvSpPr/>
          <p:nvPr/>
        </p:nvSpPr>
        <p:spPr>
          <a:xfrm>
            <a:off x="771525" y="2729731"/>
            <a:ext cx="7600950" cy="365671"/>
          </a:xfrm>
          <a:prstGeom prst="rect">
            <a:avLst/>
          </a:prstGeom>
          <a:noFill/>
          <a:ln/>
        </p:spPr>
        <p:txBody>
          <a:bodyPr wrap="square" lIns="0" tIns="0" rIns="0" bIns="0" rtlCol="0" anchor="t"/>
          <a:lstStyle/>
          <a:p>
            <a:pPr indent="0" marL="0">
              <a:lnSpc>
                <a:spcPts val="1440"/>
              </a:lnSpc>
              <a:buNone/>
            </a:pPr>
            <a:r>
              <a:rPr lang="en-US" sz="900" b="1" dirty="0">
                <a:solidFill>
                  <a:srgbClr val="CBD5E1"/>
                </a:solidFill>
                <a:latin typeface="Segoe UI" pitchFamily="34" charset="0"/>
                <a:ea typeface="Segoe UI" pitchFamily="34" charset="-122"/>
                <a:cs typeface="Segoe UI" pitchFamily="34" charset="-120"/>
              </a:rPr>
              <a:t>QUICK FACTS:</a:t>
            </a:r>
            <a:pPr indent="0" marL="0">
              <a:lnSpc>
                <a:spcPts val="1440"/>
              </a:lnSpc>
              <a:buNone/>
            </a:pPr>
            <a:r>
              <a:rPr lang="en-US" sz="900" dirty="0">
                <a:solidFill>
                  <a:srgbClr val="CBD5E1"/>
                </a:solidFill>
                <a:latin typeface="Segoe UI" pitchFamily="34" charset="0"/>
                <a:ea typeface="Segoe UI" pitchFamily="34" charset="-122"/>
                <a:cs typeface="Segoe UI" pitchFamily="34" charset="-120"/>
              </a:rPr>
              <a:t> 100K households by Year 10 | 50% uptake assumption | $1.525B net savings (5-year) | Vienna precedent (62% social housing) | Legal under Title VIII/ADA | Staffing: 15 FTE within existing budget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1219200"/>
            <a:ext cx="7924800" cy="889695"/>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3" name="Text 1"/>
          <p:cNvSpPr/>
          <p:nvPr/>
        </p:nvSpPr>
        <p:spPr>
          <a:xfrm>
            <a:off x="609600" y="2223195"/>
            <a:ext cx="7924800" cy="889695"/>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4" name="Text 2"/>
          <p:cNvSpPr/>
          <p:nvPr/>
        </p:nvSpPr>
        <p:spPr>
          <a:xfrm>
            <a:off x="609600" y="3227189"/>
            <a:ext cx="7924800" cy="889695"/>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5" name="Text 3"/>
          <p:cNvSpPr/>
          <p:nvPr/>
        </p:nvSpPr>
        <p:spPr>
          <a:xfrm>
            <a:off x="609600" y="4231184"/>
            <a:ext cx="7924800" cy="694730"/>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6" name="Text 4"/>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Proposed Local Law: Key Provisions</a:t>
            </a:r>
            <a:endParaRPr lang="en-US" sz="3000" dirty="0"/>
          </a:p>
        </p:txBody>
      </p:sp>
      <p:sp>
        <p:nvSpPr>
          <p:cNvPr id="7" name="Text 5"/>
          <p:cNvSpPr/>
          <p:nvPr/>
        </p:nvSpPr>
        <p:spPr>
          <a:xfrm>
            <a:off x="800100" y="1371600"/>
            <a:ext cx="7733538" cy="194965"/>
          </a:xfrm>
          <a:prstGeom prst="rect">
            <a:avLst/>
          </a:prstGeom>
          <a:noFill/>
          <a:ln/>
        </p:spPr>
        <p:txBody>
          <a:bodyPr wrap="square" lIns="0" tIns="0" rIns="0" bIns="0" rtlCol="0" anchor="t"/>
          <a:lstStyle/>
          <a:p>
            <a:pPr indent="0" marL="0">
              <a:lnSpc>
                <a:spcPts val="1536"/>
              </a:lnSpc>
              <a:buNone/>
            </a:pPr>
            <a:r>
              <a:rPr lang="en-US" sz="960" dirty="0">
                <a:solidFill>
                  <a:srgbClr val="CBD5E1"/>
                </a:solidFill>
                <a:latin typeface="Segoe UI" pitchFamily="34" charset="0"/>
                <a:ea typeface="Segoe UI" pitchFamily="34" charset="-122"/>
                <a:cs typeface="Segoe UI" pitchFamily="34" charset="-120"/>
              </a:rPr>
              <a:t>§ 1. Authority &amp; Definitions</a:t>
            </a:r>
            <a:endParaRPr lang="en-US" sz="960" dirty="0"/>
          </a:p>
        </p:txBody>
      </p:sp>
      <p:sp>
        <p:nvSpPr>
          <p:cNvPr id="8" name="Text 6"/>
          <p:cNvSpPr/>
          <p:nvPr/>
        </p:nvSpPr>
        <p:spPr>
          <a:xfrm>
            <a:off x="800100" y="1566565"/>
            <a:ext cx="7581900" cy="389930"/>
          </a:xfrm>
          <a:prstGeom prst="rect">
            <a:avLst/>
          </a:prstGeom>
          <a:noFill/>
          <a:ln/>
        </p:spPr>
        <p:txBody>
          <a:bodyPr wrap="square" lIns="0" tIns="0" rIns="0" bIns="0" rtlCol="0" anchor="t"/>
          <a:lstStyle/>
          <a:p>
            <a:pPr indent="0" marL="0">
              <a:lnSpc>
                <a:spcPts val="1536"/>
              </a:lnSpc>
              <a:buNone/>
            </a:pPr>
            <a:r>
              <a:rPr lang="en-US" sz="960" dirty="0">
                <a:solidFill>
                  <a:srgbClr val="CBD5E1"/>
                </a:solidFill>
                <a:latin typeface="Segoe UI" pitchFamily="34" charset="0"/>
                <a:ea typeface="Segoe UI" pitchFamily="34" charset="-122"/>
                <a:cs typeface="Segoe UI" pitchFamily="34" charset="-120"/>
              </a:rPr>
              <a:t>HPD authorized to establish TCAP and PET framework; defines "equity accrual," "member-owned credit union," "affordability lock" (permanent).</a:t>
            </a:r>
            <a:endParaRPr lang="en-US" sz="960" dirty="0"/>
          </a:p>
        </p:txBody>
      </p:sp>
      <p:sp>
        <p:nvSpPr>
          <p:cNvPr id="9" name="Text 7"/>
          <p:cNvSpPr/>
          <p:nvPr/>
        </p:nvSpPr>
        <p:spPr>
          <a:xfrm>
            <a:off x="800100" y="2375595"/>
            <a:ext cx="7733538" cy="194965"/>
          </a:xfrm>
          <a:prstGeom prst="rect">
            <a:avLst/>
          </a:prstGeom>
          <a:noFill/>
          <a:ln/>
        </p:spPr>
        <p:txBody>
          <a:bodyPr wrap="square" lIns="0" tIns="0" rIns="0" bIns="0" rtlCol="0" anchor="t"/>
          <a:lstStyle/>
          <a:p>
            <a:pPr indent="0" marL="0">
              <a:lnSpc>
                <a:spcPts val="1536"/>
              </a:lnSpc>
              <a:buNone/>
            </a:pPr>
            <a:r>
              <a:rPr lang="en-US" sz="960" dirty="0">
                <a:solidFill>
                  <a:srgbClr val="CBD5E1"/>
                </a:solidFill>
                <a:latin typeface="Segoe UI" pitchFamily="34" charset="0"/>
                <a:ea typeface="Segoe UI" pitchFamily="34" charset="-122"/>
                <a:cs typeface="Segoe UI" pitchFamily="34" charset="-120"/>
              </a:rPr>
              <a:t>§ 2. Subsidy Redirection &amp; MOA</a:t>
            </a:r>
            <a:endParaRPr lang="en-US" sz="960" dirty="0"/>
          </a:p>
        </p:txBody>
      </p:sp>
      <p:sp>
        <p:nvSpPr>
          <p:cNvPr id="10" name="Text 8"/>
          <p:cNvSpPr/>
          <p:nvPr/>
        </p:nvSpPr>
        <p:spPr>
          <a:xfrm>
            <a:off x="800100" y="2570559"/>
            <a:ext cx="7581900" cy="389930"/>
          </a:xfrm>
          <a:prstGeom prst="rect">
            <a:avLst/>
          </a:prstGeom>
          <a:noFill/>
          <a:ln/>
        </p:spPr>
        <p:txBody>
          <a:bodyPr wrap="square" lIns="0" tIns="0" rIns="0" bIns="0" rtlCol="0" anchor="t"/>
          <a:lstStyle/>
          <a:p>
            <a:pPr indent="0" marL="0">
              <a:lnSpc>
                <a:spcPts val="1536"/>
              </a:lnSpc>
              <a:buNone/>
            </a:pPr>
            <a:r>
              <a:rPr lang="en-US" sz="960" dirty="0">
                <a:solidFill>
                  <a:srgbClr val="CBD5E1"/>
                </a:solidFill>
                <a:latin typeface="Segoe UI" pitchFamily="34" charset="0"/>
                <a:ea typeface="Segoe UI" pitchFamily="34" charset="-122"/>
                <a:cs typeface="Segoe UI" pitchFamily="34" charset="-120"/>
              </a:rPr>
              <a:t>HRA redirects monthly voucher + security deposit amounts to HPD-designated credit union accounts; credit union operates under HPD oversight MOU.</a:t>
            </a:r>
            <a:endParaRPr lang="en-US" sz="960" dirty="0"/>
          </a:p>
        </p:txBody>
      </p:sp>
      <p:sp>
        <p:nvSpPr>
          <p:cNvPr id="11" name="Text 9"/>
          <p:cNvSpPr/>
          <p:nvPr/>
        </p:nvSpPr>
        <p:spPr>
          <a:xfrm>
            <a:off x="800100" y="3379589"/>
            <a:ext cx="7733538" cy="194965"/>
          </a:xfrm>
          <a:prstGeom prst="rect">
            <a:avLst/>
          </a:prstGeom>
          <a:noFill/>
          <a:ln/>
        </p:spPr>
        <p:txBody>
          <a:bodyPr wrap="square" lIns="0" tIns="0" rIns="0" bIns="0" rtlCol="0" anchor="t"/>
          <a:lstStyle/>
          <a:p>
            <a:pPr indent="0" marL="0">
              <a:lnSpc>
                <a:spcPts val="1536"/>
              </a:lnSpc>
              <a:buNone/>
            </a:pPr>
            <a:r>
              <a:rPr lang="en-US" sz="960" dirty="0">
                <a:solidFill>
                  <a:srgbClr val="CBD5E1"/>
                </a:solidFill>
                <a:latin typeface="Segoe UI" pitchFamily="34" charset="0"/>
                <a:ea typeface="Segoe UI" pitchFamily="34" charset="-122"/>
                <a:cs typeface="Segoe UI" pitchFamily="34" charset="-120"/>
              </a:rPr>
              <a:t>§ 3. Tenant Rights &amp; Protections</a:t>
            </a:r>
            <a:endParaRPr lang="en-US" sz="960" dirty="0"/>
          </a:p>
        </p:txBody>
      </p:sp>
      <p:sp>
        <p:nvSpPr>
          <p:cNvPr id="12" name="Text 10"/>
          <p:cNvSpPr/>
          <p:nvPr/>
        </p:nvSpPr>
        <p:spPr>
          <a:xfrm>
            <a:off x="800100" y="3574554"/>
            <a:ext cx="7581900" cy="389930"/>
          </a:xfrm>
          <a:prstGeom prst="rect">
            <a:avLst/>
          </a:prstGeom>
          <a:noFill/>
          <a:ln/>
        </p:spPr>
        <p:txBody>
          <a:bodyPr wrap="square" lIns="0" tIns="0" rIns="0" bIns="0" rtlCol="0" anchor="t"/>
          <a:lstStyle/>
          <a:p>
            <a:pPr indent="0" marL="0">
              <a:lnSpc>
                <a:spcPts val="1536"/>
              </a:lnSpc>
              <a:buNone/>
            </a:pPr>
            <a:r>
              <a:rPr lang="en-US" sz="960" dirty="0">
                <a:solidFill>
                  <a:srgbClr val="CBD5E1"/>
                </a:solidFill>
                <a:latin typeface="Segoe UI" pitchFamily="34" charset="0"/>
                <a:ea typeface="Segoe UI" pitchFamily="34" charset="-122"/>
                <a:cs typeface="Segoe UI" pitchFamily="34" charset="-120"/>
              </a:rPr>
              <a:t>Affirmative enrollment rights; anti-displacement protections; annual equity disclosure; ombudsman access; intergenerational transfer eligibility.</a:t>
            </a:r>
            <a:endParaRPr lang="en-US" sz="960" dirty="0"/>
          </a:p>
        </p:txBody>
      </p:sp>
      <p:sp>
        <p:nvSpPr>
          <p:cNvPr id="13" name="Text 11"/>
          <p:cNvSpPr/>
          <p:nvPr/>
        </p:nvSpPr>
        <p:spPr>
          <a:xfrm>
            <a:off x="800100" y="4383584"/>
            <a:ext cx="7733538" cy="194965"/>
          </a:xfrm>
          <a:prstGeom prst="rect">
            <a:avLst/>
          </a:prstGeom>
          <a:noFill/>
          <a:ln/>
        </p:spPr>
        <p:txBody>
          <a:bodyPr wrap="square" lIns="0" tIns="0" rIns="0" bIns="0" rtlCol="0" anchor="t"/>
          <a:lstStyle/>
          <a:p>
            <a:pPr indent="0" marL="0">
              <a:lnSpc>
                <a:spcPts val="1536"/>
              </a:lnSpc>
              <a:buNone/>
            </a:pPr>
            <a:r>
              <a:rPr lang="en-US" sz="960" dirty="0">
                <a:solidFill>
                  <a:srgbClr val="CBD5E1"/>
                </a:solidFill>
                <a:latin typeface="Segoe UI" pitchFamily="34" charset="0"/>
                <a:ea typeface="Segoe UI" pitchFamily="34" charset="-122"/>
                <a:cs typeface="Segoe UI" pitchFamily="34" charset="-120"/>
              </a:rPr>
              <a:t>§ 4. Reinvestment Authority</a:t>
            </a:r>
            <a:endParaRPr lang="en-US" sz="960" dirty="0"/>
          </a:p>
        </p:txBody>
      </p:sp>
      <p:sp>
        <p:nvSpPr>
          <p:cNvPr id="14" name="Text 12"/>
          <p:cNvSpPr/>
          <p:nvPr/>
        </p:nvSpPr>
        <p:spPr>
          <a:xfrm>
            <a:off x="800100" y="4578548"/>
            <a:ext cx="7733538" cy="194965"/>
          </a:xfrm>
          <a:prstGeom prst="rect">
            <a:avLst/>
          </a:prstGeom>
          <a:noFill/>
          <a:ln/>
        </p:spPr>
        <p:txBody>
          <a:bodyPr wrap="square" lIns="0" tIns="0" rIns="0" bIns="0" rtlCol="0" anchor="t"/>
          <a:lstStyle/>
          <a:p>
            <a:pPr indent="0" marL="0">
              <a:lnSpc>
                <a:spcPts val="1536"/>
              </a:lnSpc>
              <a:buNone/>
            </a:pPr>
            <a:r>
              <a:rPr lang="en-US" sz="960" dirty="0">
                <a:solidFill>
                  <a:srgbClr val="CBD5E1"/>
                </a:solidFill>
                <a:latin typeface="Segoe UI" pitchFamily="34" charset="0"/>
                <a:ea typeface="Segoe UI" pitchFamily="34" charset="-122"/>
                <a:cs typeface="Segoe UI" pitchFamily="34" charset="-120"/>
              </a:rPr>
              <a:t>Recovered subsidy savings may be reinvested in new affordable construction, subject to City Council approval and equity impact review.</a:t>
            </a:r>
            <a:endParaRPr lang="en-US" sz="9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09600" y="1219200"/>
            <a:ext cx="7924800" cy="816769"/>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3" name="Text 1"/>
          <p:cNvSpPr/>
          <p:nvPr/>
        </p:nvSpPr>
        <p:spPr>
          <a:xfrm>
            <a:off x="609600" y="2035969"/>
            <a:ext cx="7924800" cy="816769"/>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4" name="Text 2"/>
          <p:cNvSpPr/>
          <p:nvPr/>
        </p:nvSpPr>
        <p:spPr>
          <a:xfrm>
            <a:off x="609600" y="2967038"/>
            <a:ext cx="7924800" cy="816769"/>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5" name="Text 3"/>
          <p:cNvSpPr/>
          <p:nvPr/>
        </p:nvSpPr>
        <p:spPr>
          <a:xfrm>
            <a:off x="609600" y="3783806"/>
            <a:ext cx="7924800" cy="1023938"/>
          </a:xfrm>
          <a:prstGeom prst="rect">
            <a:avLst/>
          </a:prstGeom>
          <a:solidFill>
            <a:srgbClr val="1E293B"/>
          </a:solidFill>
          <a:ln/>
        </p:spPr>
        <p:txBody>
          <a:bodyPr wrap="none" lIns="0" tIns="0" rIns="0" bIns="0" rtlCol="0" anchor="ctr">
            <a:normAutofit/>
          </a:bodyPr>
          <a:lstStyle/>
          <a:p>
            <a:pPr indent="0" marL="0">
              <a:buNone/>
            </a:pPr>
            <a:endParaRPr lang="en-US" dirty="0"/>
          </a:p>
        </p:txBody>
      </p:sp>
      <p:sp>
        <p:nvSpPr>
          <p:cNvPr id="6" name="Text 4"/>
          <p:cNvSpPr/>
          <p:nvPr/>
        </p:nvSpPr>
        <p:spPr>
          <a:xfrm>
            <a:off x="609600" y="609600"/>
            <a:ext cx="8083296" cy="457200"/>
          </a:xfrm>
          <a:prstGeom prst="rect">
            <a:avLst/>
          </a:prstGeom>
          <a:noFill/>
          <a:ln/>
        </p:spPr>
        <p:txBody>
          <a:bodyPr wrap="square" lIns="0" tIns="0" rIns="0" bIns="0" rtlCol="0" anchor="t"/>
          <a:lstStyle/>
          <a:p>
            <a:pP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Literature Review: Evidence Base</a:t>
            </a:r>
            <a:endParaRPr lang="en-US" sz="3000" dirty="0"/>
          </a:p>
        </p:txBody>
      </p:sp>
      <p:sp>
        <p:nvSpPr>
          <p:cNvPr id="7" name="Text 5"/>
          <p:cNvSpPr/>
          <p:nvPr/>
        </p:nvSpPr>
        <p:spPr>
          <a:xfrm>
            <a:off x="800100" y="1371600"/>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3B82F6"/>
                </a:solidFill>
                <a:latin typeface="Segoe UI" pitchFamily="34" charset="0"/>
                <a:ea typeface="Segoe UI" pitchFamily="34" charset="-122"/>
                <a:cs typeface="Segoe UI" pitchFamily="34" charset="-120"/>
              </a:rPr>
              <a:t>Community Land Trusts</a:t>
            </a:r>
            <a:endParaRPr lang="en-US" sz="1500" dirty="0"/>
          </a:p>
        </p:txBody>
      </p:sp>
      <p:sp>
        <p:nvSpPr>
          <p:cNvPr id="8" name="Text 6"/>
          <p:cNvSpPr/>
          <p:nvPr/>
        </p:nvSpPr>
        <p:spPr>
          <a:xfrm>
            <a:off x="800100" y="1676400"/>
            <a:ext cx="7733538" cy="207169"/>
          </a:xfrm>
          <a:prstGeom prst="rect">
            <a:avLst/>
          </a:prstGeom>
          <a:noFill/>
          <a:ln/>
        </p:spPr>
        <p:txBody>
          <a:bodyPr wrap="square" lIns="0" tIns="0" rIns="0" bIns="0" rtlCol="0" anchor="t"/>
          <a:lstStyle/>
          <a:p>
            <a:pPr indent="0" marL="0">
              <a:lnSpc>
                <a:spcPts val="1632"/>
              </a:lnSpc>
              <a:buNone/>
            </a:pPr>
            <a:r>
              <a:rPr lang="en-US" sz="960" dirty="0">
                <a:solidFill>
                  <a:srgbClr val="CBD5E1"/>
                </a:solidFill>
                <a:latin typeface="Segoe UI" pitchFamily="34" charset="0"/>
                <a:ea typeface="Segoe UI" pitchFamily="34" charset="-122"/>
                <a:cs typeface="Segoe UI" pitchFamily="34" charset="-120"/>
              </a:rPr>
              <a:t>Salman &amp; Munro (2023, Land Lines): CLTs reduce displacement 97%; affordability permanent; tenant agency increases measurably.</a:t>
            </a:r>
            <a:endParaRPr lang="en-US" sz="960" dirty="0"/>
          </a:p>
        </p:txBody>
      </p:sp>
      <p:sp>
        <p:nvSpPr>
          <p:cNvPr id="9" name="Text 7"/>
          <p:cNvSpPr/>
          <p:nvPr/>
        </p:nvSpPr>
        <p:spPr>
          <a:xfrm>
            <a:off x="800100" y="2188369"/>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3B82F6"/>
                </a:solidFill>
                <a:latin typeface="Segoe UI" pitchFamily="34" charset="0"/>
                <a:ea typeface="Segoe UI" pitchFamily="34" charset="-122"/>
                <a:cs typeface="Segoe UI" pitchFamily="34" charset="-120"/>
              </a:rPr>
              <a:t>Credit Union Models</a:t>
            </a:r>
            <a:endParaRPr lang="en-US" sz="1500" dirty="0"/>
          </a:p>
        </p:txBody>
      </p:sp>
      <p:sp>
        <p:nvSpPr>
          <p:cNvPr id="10" name="Text 8"/>
          <p:cNvSpPr/>
          <p:nvPr/>
        </p:nvSpPr>
        <p:spPr>
          <a:xfrm>
            <a:off x="800100" y="2493169"/>
            <a:ext cx="7733538" cy="207169"/>
          </a:xfrm>
          <a:prstGeom prst="rect">
            <a:avLst/>
          </a:prstGeom>
          <a:noFill/>
          <a:ln/>
        </p:spPr>
        <p:txBody>
          <a:bodyPr wrap="square" lIns="0" tIns="0" rIns="0" bIns="0" rtlCol="0" anchor="t"/>
          <a:lstStyle/>
          <a:p>
            <a:pPr indent="0" marL="0">
              <a:lnSpc>
                <a:spcPts val="1632"/>
              </a:lnSpc>
              <a:buNone/>
            </a:pPr>
            <a:r>
              <a:rPr lang="en-US" sz="960" dirty="0">
                <a:solidFill>
                  <a:srgbClr val="CBD5E1"/>
                </a:solidFill>
                <a:latin typeface="Segoe UI" pitchFamily="34" charset="0"/>
                <a:ea typeface="Segoe UI" pitchFamily="34" charset="-122"/>
                <a:cs typeface="Segoe UI" pitchFamily="34" charset="-120"/>
              </a:rPr>
              <a:t>CUNA &amp; Filene (2024): Member-owned credit union underwriting matches or exceeds bank risk profiles; operational cost ~40% lower.</a:t>
            </a:r>
            <a:endParaRPr lang="en-US" sz="960" dirty="0"/>
          </a:p>
        </p:txBody>
      </p:sp>
      <p:sp>
        <p:nvSpPr>
          <p:cNvPr id="11" name="Text 9"/>
          <p:cNvSpPr/>
          <p:nvPr/>
        </p:nvSpPr>
        <p:spPr>
          <a:xfrm>
            <a:off x="800100" y="3119438"/>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3B82F6"/>
                </a:solidFill>
                <a:latin typeface="Segoe UI" pitchFamily="34" charset="0"/>
                <a:ea typeface="Segoe UI" pitchFamily="34" charset="-122"/>
                <a:cs typeface="Segoe UI" pitchFamily="34" charset="-120"/>
              </a:rPr>
              <a:t>Racial Wealth Gap</a:t>
            </a:r>
            <a:endParaRPr lang="en-US" sz="1500" dirty="0"/>
          </a:p>
        </p:txBody>
      </p:sp>
      <p:sp>
        <p:nvSpPr>
          <p:cNvPr id="12" name="Text 10"/>
          <p:cNvSpPr/>
          <p:nvPr/>
        </p:nvSpPr>
        <p:spPr>
          <a:xfrm>
            <a:off x="800100" y="3424238"/>
            <a:ext cx="7733538" cy="207169"/>
          </a:xfrm>
          <a:prstGeom prst="rect">
            <a:avLst/>
          </a:prstGeom>
          <a:noFill/>
          <a:ln/>
        </p:spPr>
        <p:txBody>
          <a:bodyPr wrap="square" lIns="0" tIns="0" rIns="0" bIns="0" rtlCol="0" anchor="t"/>
          <a:lstStyle/>
          <a:p>
            <a:pPr indent="0" marL="0">
              <a:lnSpc>
                <a:spcPts val="1632"/>
              </a:lnSpc>
              <a:buNone/>
            </a:pPr>
            <a:r>
              <a:rPr lang="en-US" sz="960" dirty="0">
                <a:solidFill>
                  <a:srgbClr val="CBD5E1"/>
                </a:solidFill>
                <a:latin typeface="Segoe UI" pitchFamily="34" charset="0"/>
                <a:ea typeface="Segoe UI" pitchFamily="34" charset="-122"/>
                <a:cs typeface="Segoe UI" pitchFamily="34" charset="-120"/>
              </a:rPr>
              <a:t>Bhutta et al., Fed. Survey of Consumer Finances (2023): Median white family net worth $168K vs. Black $24K; housing primary driver.</a:t>
            </a:r>
            <a:endParaRPr lang="en-US" sz="960" dirty="0"/>
          </a:p>
        </p:txBody>
      </p:sp>
      <p:sp>
        <p:nvSpPr>
          <p:cNvPr id="13" name="Text 11"/>
          <p:cNvSpPr/>
          <p:nvPr/>
        </p:nvSpPr>
        <p:spPr>
          <a:xfrm>
            <a:off x="800100" y="3936206"/>
            <a:ext cx="7733538" cy="228600"/>
          </a:xfrm>
          <a:prstGeom prst="rect">
            <a:avLst/>
          </a:prstGeom>
          <a:noFill/>
          <a:ln/>
        </p:spPr>
        <p:txBody>
          <a:bodyPr wrap="square" lIns="0" tIns="0" rIns="0" bIns="0" rtlCol="0" anchor="t"/>
          <a:lstStyle/>
          <a:p>
            <a:pPr indent="0" marL="0">
              <a:lnSpc>
                <a:spcPts val="1800"/>
              </a:lnSpc>
              <a:buNone/>
            </a:pPr>
            <a:r>
              <a:rPr lang="en-US" sz="1500" b="1" dirty="0">
                <a:solidFill>
                  <a:srgbClr val="3B82F6"/>
                </a:solidFill>
                <a:latin typeface="Segoe UI" pitchFamily="34" charset="0"/>
                <a:ea typeface="Segoe UI" pitchFamily="34" charset="-122"/>
                <a:cs typeface="Segoe UI" pitchFamily="34" charset="-120"/>
              </a:rPr>
              <a:t>Vienna Model</a:t>
            </a:r>
            <a:endParaRPr lang="en-US" sz="1500" dirty="0"/>
          </a:p>
        </p:txBody>
      </p:sp>
      <p:sp>
        <p:nvSpPr>
          <p:cNvPr id="14" name="Text 12"/>
          <p:cNvSpPr/>
          <p:nvPr/>
        </p:nvSpPr>
        <p:spPr>
          <a:xfrm>
            <a:off x="800100" y="4241006"/>
            <a:ext cx="7581900" cy="414338"/>
          </a:xfrm>
          <a:prstGeom prst="rect">
            <a:avLst/>
          </a:prstGeom>
          <a:noFill/>
          <a:ln/>
        </p:spPr>
        <p:txBody>
          <a:bodyPr wrap="square" lIns="0" tIns="0" rIns="0" bIns="0" rtlCol="0" anchor="t"/>
          <a:lstStyle/>
          <a:p>
            <a:pPr indent="0" marL="0">
              <a:lnSpc>
                <a:spcPts val="1632"/>
              </a:lnSpc>
              <a:buNone/>
            </a:pPr>
            <a:r>
              <a:rPr lang="en-US" sz="960" dirty="0">
                <a:solidFill>
                  <a:srgbClr val="CBD5E1"/>
                </a:solidFill>
                <a:latin typeface="Segoe UI" pitchFamily="34" charset="0"/>
                <a:ea typeface="Segoe UI" pitchFamily="34" charset="-122"/>
                <a:cs typeface="Segoe UI" pitchFamily="34" charset="-120"/>
              </a:rPr>
              <a:t>Hegedüs &amp; Tosics (2018): Vienna's social housing achieves 62% stock coverage at lower cost than NYC subsidies; intergenerational stability high.</a:t>
            </a:r>
            <a:endParaRPr lang="en-US" sz="9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171575" y="1502346"/>
            <a:ext cx="6800850" cy="457200"/>
          </a:xfrm>
          <a:prstGeom prst="rect">
            <a:avLst/>
          </a:prstGeom>
          <a:noFill/>
          <a:ln/>
        </p:spPr>
        <p:txBody>
          <a:bodyPr wrap="square" lIns="0" tIns="0" rIns="0" bIns="0" rtlCol="0" anchor="t"/>
          <a:lstStyle/>
          <a:p>
            <a:pPr algn="ctr" indent="0" marL="0">
              <a:lnSpc>
                <a:spcPts val="3600"/>
              </a:lnSpc>
              <a:buNone/>
            </a:pPr>
            <a:r>
              <a:rPr lang="en-US" sz="3000" b="1" dirty="0">
                <a:solidFill>
                  <a:srgbClr val="06B6D4"/>
                </a:solidFill>
                <a:latin typeface="Segoe UI" pitchFamily="34" charset="0"/>
                <a:ea typeface="Segoe UI" pitchFamily="34" charset="-122"/>
                <a:cs typeface="Segoe UI" pitchFamily="34" charset="-120"/>
              </a:rPr>
              <a:t>A City Where Housing Is Equity</a:t>
            </a:r>
            <a:endParaRPr lang="en-US" sz="3000" dirty="0"/>
          </a:p>
        </p:txBody>
      </p:sp>
      <p:sp>
        <p:nvSpPr>
          <p:cNvPr id="4" name="Text 1"/>
          <p:cNvSpPr/>
          <p:nvPr/>
        </p:nvSpPr>
        <p:spPr>
          <a:xfrm>
            <a:off x="1238250" y="2264346"/>
            <a:ext cx="6667500" cy="905247"/>
          </a:xfrm>
          <a:prstGeom prst="rect">
            <a:avLst/>
          </a:prstGeom>
          <a:noFill/>
          <a:ln/>
        </p:spPr>
        <p:txBody>
          <a:bodyPr wrap="square" lIns="0" tIns="0" rIns="0" bIns="0" rtlCol="0" anchor="t"/>
          <a:lstStyle/>
          <a:p>
            <a:pPr algn="ctr" indent="0" marL="0">
              <a:lnSpc>
                <a:spcPts val="2376"/>
              </a:lnSpc>
              <a:buNone/>
            </a:pPr>
            <a:r>
              <a:rPr lang="en-US" sz="1320" dirty="0">
                <a:solidFill>
                  <a:srgbClr val="CBD5E1"/>
                </a:solidFill>
                <a:latin typeface="Segoe UI" pitchFamily="34" charset="0"/>
                <a:ea typeface="Segoe UI" pitchFamily="34" charset="-122"/>
                <a:cs typeface="Segoe UI" pitchFamily="34" charset="-120"/>
              </a:rPr>
              <a:t>By reorienting $5.7 billion in existing subsidies toward tenant ownership, NYC can create </a:t>
            </a:r>
            <a:pPr algn="ctr" indent="0" marL="0">
              <a:lnSpc>
                <a:spcPts val="2376"/>
              </a:lnSpc>
              <a:buNone/>
            </a:pPr>
            <a:r>
              <a:rPr lang="en-US" sz="1320" b="1" dirty="0">
                <a:solidFill>
                  <a:srgbClr val="10B981"/>
                </a:solidFill>
                <a:latin typeface="Segoe UI" pitchFamily="34" charset="0"/>
                <a:ea typeface="Segoe UI" pitchFamily="34" charset="-122"/>
                <a:cs typeface="Segoe UI" pitchFamily="34" charset="-120"/>
              </a:rPr>
              <a:t>permanent affordability</a:t>
            </a:r>
            <a:pPr algn="ctr" indent="0" marL="0">
              <a:lnSpc>
                <a:spcPts val="2376"/>
              </a:lnSpc>
              <a:buNone/>
            </a:pPr>
            <a:r>
              <a:rPr lang="en-US" sz="1320" dirty="0">
                <a:solidFill>
                  <a:srgbClr val="CBD5E1"/>
                </a:solidFill>
                <a:latin typeface="Segoe UI" pitchFamily="34" charset="0"/>
                <a:ea typeface="Segoe UI" pitchFamily="34" charset="-122"/>
                <a:cs typeface="Segoe UI" pitchFamily="34" charset="-120"/>
              </a:rPr>
              <a:t>, close the </a:t>
            </a:r>
            <a:pPr algn="ctr" indent="0" marL="0">
              <a:lnSpc>
                <a:spcPts val="2376"/>
              </a:lnSpc>
              <a:buNone/>
            </a:pPr>
            <a:r>
              <a:rPr lang="en-US" sz="1320" b="1" dirty="0">
                <a:solidFill>
                  <a:srgbClr val="10B981"/>
                </a:solidFill>
                <a:latin typeface="Segoe UI" pitchFamily="34" charset="0"/>
                <a:ea typeface="Segoe UI" pitchFamily="34" charset="-122"/>
                <a:cs typeface="Segoe UI" pitchFamily="34" charset="-120"/>
              </a:rPr>
              <a:t>racial wealth gap</a:t>
            </a:r>
            <a:pPr algn="ctr" indent="0" marL="0">
              <a:lnSpc>
                <a:spcPts val="2376"/>
              </a:lnSpc>
              <a:buNone/>
            </a:pPr>
            <a:r>
              <a:rPr lang="en-US" sz="1320" dirty="0">
                <a:solidFill>
                  <a:srgbClr val="CBD5E1"/>
                </a:solidFill>
                <a:latin typeface="Segoe UI" pitchFamily="34" charset="0"/>
                <a:ea typeface="Segoe UI" pitchFamily="34" charset="-122"/>
                <a:cs typeface="Segoe UI" pitchFamily="34" charset="-120"/>
              </a:rPr>
              <a:t>, and build </a:t>
            </a:r>
            <a:pPr algn="ctr" indent="0" marL="0">
              <a:lnSpc>
                <a:spcPts val="2376"/>
              </a:lnSpc>
              <a:buNone/>
            </a:pPr>
            <a:r>
              <a:rPr lang="en-US" sz="1320" b="1" dirty="0">
                <a:solidFill>
                  <a:srgbClr val="10B981"/>
                </a:solidFill>
                <a:latin typeface="Segoe UI" pitchFamily="34" charset="0"/>
                <a:ea typeface="Segoe UI" pitchFamily="34" charset="-122"/>
                <a:cs typeface="Segoe UI" pitchFamily="34" charset="-120"/>
              </a:rPr>
              <a:t>intergenerational stability</a:t>
            </a:r>
            <a:pPr algn="ctr" indent="0" marL="0">
              <a:lnSpc>
                <a:spcPts val="2376"/>
              </a:lnSpc>
              <a:buNone/>
            </a:pPr>
            <a:r>
              <a:rPr lang="en-US" sz="1320" dirty="0">
                <a:solidFill>
                  <a:srgbClr val="CBD5E1"/>
                </a:solidFill>
                <a:latin typeface="Segoe UI" pitchFamily="34" charset="0"/>
                <a:ea typeface="Segoe UI" pitchFamily="34" charset="-122"/>
                <a:cs typeface="Segoe UI" pitchFamily="34" charset="-120"/>
              </a:rPr>
              <a:t>—without new budget authority.</a:t>
            </a:r>
            <a:endParaRPr lang="en-US" sz="1320" dirty="0"/>
          </a:p>
        </p:txBody>
      </p:sp>
      <p:sp>
        <p:nvSpPr>
          <p:cNvPr id="5" name="Text 2"/>
          <p:cNvSpPr/>
          <p:nvPr/>
        </p:nvSpPr>
        <p:spPr>
          <a:xfrm>
            <a:off x="1171575" y="3474393"/>
            <a:ext cx="6800850" cy="166688"/>
          </a:xfrm>
          <a:prstGeom prst="rect">
            <a:avLst/>
          </a:prstGeom>
          <a:noFill/>
          <a:ln/>
        </p:spPr>
        <p:txBody>
          <a:bodyPr wrap="square" lIns="0" tIns="0" rIns="0" bIns="0" rtlCol="0" anchor="t"/>
          <a:lstStyle/>
          <a:p>
            <a:pPr algn="ctr" indent="0" marL="0">
              <a:lnSpc>
                <a:spcPts val="1026"/>
              </a:lnSpc>
              <a:buNone/>
            </a:pPr>
            <a:r>
              <a:rPr lang="en-US" sz="1140" dirty="0">
                <a:solidFill>
                  <a:srgbClr val="94A3B8"/>
                </a:solidFill>
                <a:latin typeface="Segoe UI" pitchFamily="34" charset="0"/>
                <a:ea typeface="Segoe UI" pitchFamily="34" charset="-122"/>
                <a:cs typeface="Segoe UI" pitchFamily="34" charset="-120"/>
              </a:rPr>
              <a:t>PET Framework. Pilot. Scale. Legacy.</a:t>
            </a:r>
            <a:endParaRPr lang="en-US" sz="11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Perplexity</cp:lastModifiedBy>
  <cp:revision>1</cp:revision>
  <dcterms:created xsi:type="dcterms:W3CDTF">2025-12-30T23:56:00Z</dcterms:created>
  <dcterms:modified xsi:type="dcterms:W3CDTF">2025-12-30T23:56:00Z</dcterms:modified>
</cp:coreProperties>
</file>